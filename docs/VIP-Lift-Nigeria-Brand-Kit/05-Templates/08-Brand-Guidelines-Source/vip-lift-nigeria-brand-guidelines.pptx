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0a02ca4f534c5e" /><Relationship Type="http://schemas.openxmlformats.org/officeDocument/2006/relationships/extended-properties" Target="/docProps/app.xml" Id="Rd96583b743fb43fd" /><Relationship Type="http://schemas.openxmlformats.org/officeDocument/2006/relationships/officeDocument" Target="/ppt/presentation.xml" Id="Rb55036c9144544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dd1a99ee534991"/>
  </p:sldMasterIdLst>
  <p:notesMasterIdLst>
    <p:notesMasterId xmlns:r="http://schemas.openxmlformats.org/officeDocument/2006/relationships" r:id="R8df1709e434c46cf"/>
  </p:notesMasterIdLst>
  <p:sldIdLst>
    <p:sldId xmlns:r="http://schemas.openxmlformats.org/officeDocument/2006/relationships" id="256" r:id="R811d81bda5504ef3"/>
    <p:sldId xmlns:r="http://schemas.openxmlformats.org/officeDocument/2006/relationships" id="257" r:id="R6136d5da90bf4174"/>
    <p:sldId xmlns:r="http://schemas.openxmlformats.org/officeDocument/2006/relationships" id="258" r:id="R22502853103a48e0"/>
    <p:sldId xmlns:r="http://schemas.openxmlformats.org/officeDocument/2006/relationships" id="259" r:id="R0b996c0228ae4526"/>
    <p:sldId xmlns:r="http://schemas.openxmlformats.org/officeDocument/2006/relationships" id="260" r:id="R0a79e04e76584a81"/>
    <p:sldId xmlns:r="http://schemas.openxmlformats.org/officeDocument/2006/relationships" id="261" r:id="R7214ec7c63ff41d0"/>
    <p:sldId xmlns:r="http://schemas.openxmlformats.org/officeDocument/2006/relationships" id="262" r:id="R4040829523414207"/>
    <p:sldId xmlns:r="http://schemas.openxmlformats.org/officeDocument/2006/relationships" id="263" r:id="R1756c8eab17a44fd"/>
    <p:sldId xmlns:r="http://schemas.openxmlformats.org/officeDocument/2006/relationships" id="264" r:id="R6ec352f9e7234fb2"/>
    <p:sldId xmlns:r="http://schemas.openxmlformats.org/officeDocument/2006/relationships" id="265" r:id="R608340e248c840b9"/>
    <p:sldId xmlns:r="http://schemas.openxmlformats.org/officeDocument/2006/relationships" id="266" r:id="Rb44888d7aacb4c1b"/>
    <p:sldId xmlns:r="http://schemas.openxmlformats.org/officeDocument/2006/relationships" id="267" r:id="R06efcbff413743b8"/>
    <p:sldId xmlns:r="http://schemas.openxmlformats.org/officeDocument/2006/relationships" id="268" r:id="R47fcdf7f0bb8460c"/>
    <p:sldId xmlns:r="http://schemas.openxmlformats.org/officeDocument/2006/relationships" id="269" r:id="R668dcc44035241e8"/>
    <p:sldId xmlns:r="http://schemas.openxmlformats.org/officeDocument/2006/relationships" id="270" r:id="R7d58914461df4259"/>
    <p:sldId xmlns:r="http://schemas.openxmlformats.org/officeDocument/2006/relationships" id="271" r:id="Rddc0c7e5b4a340f3"/>
  </p:sldIdLst>
  <p:sldSz cx="7562850" cy="10696575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82a3d300fd4c41" /><Relationship Type="http://schemas.openxmlformats.org/officeDocument/2006/relationships/slideMaster" Target="/ppt/slideMasters/slideMaster1.xml" Id="R87dd1a99ee534991" /><Relationship Type="http://schemas.openxmlformats.org/officeDocument/2006/relationships/notesMaster" Target="/ppt/notesMasters/notesMaster1.xml" Id="R8df1709e434c46cf" /><Relationship Type="http://schemas.openxmlformats.org/officeDocument/2006/relationships/presProps" Target="/ppt/presProps.xml" Id="R355182f236274fda" /><Relationship Type="http://schemas.openxmlformats.org/officeDocument/2006/relationships/viewProps" Target="/ppt/viewProps.xml" Id="R8812a295ec984064" /><Relationship Type="http://schemas.openxmlformats.org/officeDocument/2006/relationships/tableStyles" Target="/ppt/tableStyles.xml" Id="R84c5a6ea4da945f7" /><Relationship Type="http://schemas.openxmlformats.org/officeDocument/2006/relationships/slide" Target="/ppt/slides/slide1.xml" Id="R811d81bda5504ef3" /><Relationship Type="http://schemas.openxmlformats.org/officeDocument/2006/relationships/slide" Target="/ppt/slides/slide2.xml" Id="R6136d5da90bf4174" /><Relationship Type="http://schemas.openxmlformats.org/officeDocument/2006/relationships/slide" Target="/ppt/slides/slide3.xml" Id="R22502853103a48e0" /><Relationship Type="http://schemas.openxmlformats.org/officeDocument/2006/relationships/slide" Target="/ppt/slides/slide4.xml" Id="R0b996c0228ae4526" /><Relationship Type="http://schemas.openxmlformats.org/officeDocument/2006/relationships/slide" Target="/ppt/slides/slide5.xml" Id="R0a79e04e76584a81" /><Relationship Type="http://schemas.openxmlformats.org/officeDocument/2006/relationships/slide" Target="/ppt/slides/slide6.xml" Id="R7214ec7c63ff41d0" /><Relationship Type="http://schemas.openxmlformats.org/officeDocument/2006/relationships/slide" Target="/ppt/slides/slide7.xml" Id="R4040829523414207" /><Relationship Type="http://schemas.openxmlformats.org/officeDocument/2006/relationships/slide" Target="/ppt/slides/slide8.xml" Id="R1756c8eab17a44fd" /><Relationship Type="http://schemas.openxmlformats.org/officeDocument/2006/relationships/slide" Target="/ppt/slides/slide9.xml" Id="R6ec352f9e7234fb2" /><Relationship Type="http://schemas.openxmlformats.org/officeDocument/2006/relationships/slide" Target="/ppt/slides/slide10.xml" Id="R608340e248c840b9" /><Relationship Type="http://schemas.openxmlformats.org/officeDocument/2006/relationships/slide" Target="/ppt/slides/slide11.xml" Id="Rb44888d7aacb4c1b" /><Relationship Type="http://schemas.openxmlformats.org/officeDocument/2006/relationships/slide" Target="/ppt/slides/slide12.xml" Id="R06efcbff413743b8" /><Relationship Type="http://schemas.openxmlformats.org/officeDocument/2006/relationships/slide" Target="/ppt/slides/slide13.xml" Id="R47fcdf7f0bb8460c" /><Relationship Type="http://schemas.openxmlformats.org/officeDocument/2006/relationships/slide" Target="/ppt/slides/slide14.xml" Id="R668dcc44035241e8" /><Relationship Type="http://schemas.openxmlformats.org/officeDocument/2006/relationships/slide" Target="/ppt/slides/slide15.xml" Id="R7d58914461df4259" /><Relationship Type="http://schemas.openxmlformats.org/officeDocument/2006/relationships/slide" Target="/ppt/slides/slide16.xml" Id="Rddc0c7e5b4a340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711414bf7342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Input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Input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Input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Input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Input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Input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e153e07e7d460e" /><Relationship Type="http://schemas.openxmlformats.org/officeDocument/2006/relationships/notesMaster" Target="/ppt/notesMasters/notesMaster1.xml" Id="R0cc1d635275442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3685db5cef4442" /><Relationship Type="http://schemas.openxmlformats.org/officeDocument/2006/relationships/notesMaster" Target="/ppt/notesMasters/notesMaster1.xml" Id="Rf80a4c9dfe5840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32269e9a2c43e1" /><Relationship Type="http://schemas.openxmlformats.org/officeDocument/2006/relationships/notesMaster" Target="/ppt/notesMasters/notesMaster1.xml" Id="R536d4a767e9e4d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f14a1e3fc341ce" /><Relationship Type="http://schemas.openxmlformats.org/officeDocument/2006/relationships/notesMaster" Target="/ppt/notesMasters/notesMaster1.xml" Id="R70f014865f7345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1a6acd262d42ba" /><Relationship Type="http://schemas.openxmlformats.org/officeDocument/2006/relationships/notesMaster" Target="/ppt/notesMasters/notesMaster1.xml" Id="R888dac40adbf45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22c78b20994866" /><Relationship Type="http://schemas.openxmlformats.org/officeDocument/2006/relationships/notesMaster" Target="/ppt/notesMasters/notesMaster1.xml" Id="R01691053f66e47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782ab843c84eee" /><Relationship Type="http://schemas.openxmlformats.org/officeDocument/2006/relationships/notesMaster" Target="/ppt/notesMasters/notesMaster1.xml" Id="Rc0e37bbbde8445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78801dc5174b1a" /><Relationship Type="http://schemas.openxmlformats.org/officeDocument/2006/relationships/notesMaster" Target="/ppt/notesMasters/notesMaster1.xml" Id="R667aa0c9febf4ae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6de830a47c8442b" /><Relationship Type="http://schemas.openxmlformats.org/officeDocument/2006/relationships/notesMaster" Target="/ppt/notesMasters/notesMaster1.xml" Id="R2725b54ffc9440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d75256032d94bee" /><Relationship Type="http://schemas.openxmlformats.org/officeDocument/2006/relationships/notesMaster" Target="/ppt/notesMasters/notesMaster1.xml" Id="Rd3d399f186404f8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4942bd49d2f48bf" /><Relationship Type="http://schemas.openxmlformats.org/officeDocument/2006/relationships/notesMaster" Target="/ppt/notesMasters/notesMaster1.xml" Id="Rb26c149c1b1943f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5a3cdc5107e486f" /><Relationship Type="http://schemas.openxmlformats.org/officeDocument/2006/relationships/notesMaster" Target="/ppt/notesMasters/notesMaster1.xml" Id="R5feb94146c57419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fd4ae33c07c4e77" /><Relationship Type="http://schemas.openxmlformats.org/officeDocument/2006/relationships/notesMaster" Target="/ppt/notesMasters/notesMaster1.xml" Id="R47d52a9392134cf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eab8deea48a464f" /><Relationship Type="http://schemas.openxmlformats.org/officeDocument/2006/relationships/notesMaster" Target="/ppt/notesMasters/notesMaster1.xml" Id="R4ae5f86cc1f846b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6660f44127342c3" /><Relationship Type="http://schemas.openxmlformats.org/officeDocument/2006/relationships/notesMaster" Target="/ppt/notesMasters/notesMaster1.xml" Id="R64db9f99201044f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6cee72be8c94726" /><Relationship Type="http://schemas.openxmlformats.org/officeDocument/2006/relationships/notesMaster" Target="/ppt/notesMasters/notesMaster1.xml" Id="R0968ec5602d949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Input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Input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Input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Input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Input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Input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Input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Input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Input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Input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Input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Input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Input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Input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Input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Input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Input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Input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Input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Input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Input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Input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Input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Input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Input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Input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Input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Input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Input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Input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Input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Input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Input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Input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Input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Input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Input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Input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Input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Input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Input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Input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Input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Input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Input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Input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Input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Input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aa3060aaaf4c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e6f0c9430b42f8" /><Relationship Type="http://schemas.openxmlformats.org/officeDocument/2006/relationships/slideLayout" Target="/ppt/slideLayouts/slideLayout1.xml" Id="R09dc936d4d7342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dc936d4d7342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02dd247b9a4297" /><Relationship Type="http://schemas.openxmlformats.org/officeDocument/2006/relationships/image" Target="/ppt/media/image.png" Id="R5c83379dc2a44a5f" /><Relationship Type="http://schemas.openxmlformats.org/officeDocument/2006/relationships/image" Target="/ppt/media/image2.png" Id="Ra3dbf6279e8c42c0" /><Relationship Type="http://schemas.openxmlformats.org/officeDocument/2006/relationships/notesSlide" Target="/ppt/notesSlides/notesSlide1.xml" Id="R798b070f5cac42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2ec3ca42c4cfb" /><Relationship Type="http://schemas.openxmlformats.org/officeDocument/2006/relationships/image" Target="/ppt/media/image3.png" Id="R04f6fd84ae9a459b" /><Relationship Type="http://schemas.openxmlformats.org/officeDocument/2006/relationships/notesSlide" Target="/ppt/notesSlides/notesSlide2.xml" Id="R689572eff5d844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b169197e604e18" /><Relationship Type="http://schemas.openxmlformats.org/officeDocument/2006/relationships/notesSlide" Target="/ppt/notesSlides/notesSlide3.xml" Id="R67430e918ca146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2248d683554433" /><Relationship Type="http://schemas.openxmlformats.org/officeDocument/2006/relationships/image" Target="/ppt/media/image4.png" Id="Rc18e1523dd304559" /><Relationship Type="http://schemas.openxmlformats.org/officeDocument/2006/relationships/image" Target="/ppt/media/image5.png" Id="R70a01f4398bb49b0" /><Relationship Type="http://schemas.openxmlformats.org/officeDocument/2006/relationships/image" Target="/ppt/media/image6.png" Id="Ref53e104d2224cf1" /><Relationship Type="http://schemas.openxmlformats.org/officeDocument/2006/relationships/image" Target="/ppt/media/image7.png" Id="R3b3ecdc2a5f24450" /><Relationship Type="http://schemas.openxmlformats.org/officeDocument/2006/relationships/notesSlide" Target="/ppt/notesSlides/notesSlide4.xml" Id="R5d6b05c6026c4e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f0b16e4e1497c" /><Relationship Type="http://schemas.openxmlformats.org/officeDocument/2006/relationships/image" Target="/ppt/media/image8.png" Id="Rc9a660ec237e4003" /><Relationship Type="http://schemas.openxmlformats.org/officeDocument/2006/relationships/notesSlide" Target="/ppt/notesSlides/notesSlide5.xml" Id="R281eac889afb4d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4eaf9a961f4009" /><Relationship Type="http://schemas.openxmlformats.org/officeDocument/2006/relationships/image" Target="/ppt/media/image9.png" Id="Rca4a75a76e69452d" /><Relationship Type="http://schemas.openxmlformats.org/officeDocument/2006/relationships/image" Target="/ppt/media/image10.png" Id="Rfe4d1ee3c25d4925" /><Relationship Type="http://schemas.openxmlformats.org/officeDocument/2006/relationships/image" Target="/ppt/media/image11.png" Id="R0a23b4fbf7cc4ab9" /><Relationship Type="http://schemas.openxmlformats.org/officeDocument/2006/relationships/image" Target="/ppt/media/image12.png" Id="R40832742c2724885" /><Relationship Type="http://schemas.openxmlformats.org/officeDocument/2006/relationships/image" Target="/ppt/media/image13.png" Id="R0e9ffaeda92241d0" /><Relationship Type="http://schemas.openxmlformats.org/officeDocument/2006/relationships/image" Target="/ppt/media/image14.png" Id="Ree87e407db1d4f1f" /><Relationship Type="http://schemas.openxmlformats.org/officeDocument/2006/relationships/image" Target="/ppt/media/image15.png" Id="Rbace3e58b41a44af" /><Relationship Type="http://schemas.openxmlformats.org/officeDocument/2006/relationships/image" Target="/ppt/media/image16.png" Id="R72aed3f84dc643b2" /><Relationship Type="http://schemas.openxmlformats.org/officeDocument/2006/relationships/notesSlide" Target="/ppt/notesSlides/notesSlide6.xml" Id="R45da416a92e64e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cc19c169f4134" /><Relationship Type="http://schemas.openxmlformats.org/officeDocument/2006/relationships/notesSlide" Target="/ppt/notesSlides/notesSlide7.xml" Id="Rcbddac6a90b241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f2beb0d3d44a6d" /><Relationship Type="http://schemas.openxmlformats.org/officeDocument/2006/relationships/image" Target="/ppt/media/image17.png" Id="Re8edc843c1ea4a17" /><Relationship Type="http://schemas.openxmlformats.org/officeDocument/2006/relationships/notesSlide" Target="/ppt/notesSlides/notesSlide8.xml" Id="Rcbb18c42236b46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37f65f1f0f409c" /><Relationship Type="http://schemas.openxmlformats.org/officeDocument/2006/relationships/image" Target="/ppt/media/image18.png" Id="Rae164f39682746ec" /><Relationship Type="http://schemas.openxmlformats.org/officeDocument/2006/relationships/image" Target="/ppt/media/image19.png" Id="R7e7547133a884791" /><Relationship Type="http://schemas.openxmlformats.org/officeDocument/2006/relationships/image" Target="/ppt/media/image20.png" Id="Rbcf6b5fc273849fb" /><Relationship Type="http://schemas.openxmlformats.org/officeDocument/2006/relationships/image" Target="/ppt/media/image21.png" Id="Rc5a34485bc0d4ef0" /><Relationship Type="http://schemas.openxmlformats.org/officeDocument/2006/relationships/image" Target="/ppt/media/image22.png" Id="Rcc9851624f1e4afa" /><Relationship Type="http://schemas.openxmlformats.org/officeDocument/2006/relationships/image" Target="/ppt/media/image23.png" Id="Rd73847e201704dcf" /><Relationship Type="http://schemas.openxmlformats.org/officeDocument/2006/relationships/image" Target="/ppt/media/image24.png" Id="Rc672adeb571f4e38" /><Relationship Type="http://schemas.openxmlformats.org/officeDocument/2006/relationships/image" Target="/ppt/media/image25.png" Id="Racdfbc64138f4c1e" /><Relationship Type="http://schemas.openxmlformats.org/officeDocument/2006/relationships/image" Target="/ppt/media/image26.png" Id="R700c30b15754491c" /><Relationship Type="http://schemas.openxmlformats.org/officeDocument/2006/relationships/image" Target="/ppt/media/image27.png" Id="R959cd56516334992" /><Relationship Type="http://schemas.openxmlformats.org/officeDocument/2006/relationships/image" Target="/ppt/media/image28.png" Id="Rc53f791d3adc4f6d" /><Relationship Type="http://schemas.openxmlformats.org/officeDocument/2006/relationships/image" Target="/ppt/media/image29.png" Id="R013379df8a4343f2" /><Relationship Type="http://schemas.openxmlformats.org/officeDocument/2006/relationships/image" Target="/ppt/media/image30.png" Id="Ra93179329c944274" /><Relationship Type="http://schemas.openxmlformats.org/officeDocument/2006/relationships/image" Target="/ppt/media/image31.png" Id="R76452252e6c746ce" /><Relationship Type="http://schemas.openxmlformats.org/officeDocument/2006/relationships/image" Target="/ppt/media/image32.png" Id="R87468c91b7174059" /><Relationship Type="http://schemas.openxmlformats.org/officeDocument/2006/relationships/image" Target="/ppt/media/image33.png" Id="R05360256f6b04718" /><Relationship Type="http://schemas.openxmlformats.org/officeDocument/2006/relationships/image" Target="/ppt/media/image34.png" Id="R3b9aff065b4a4ce8" /><Relationship Type="http://schemas.openxmlformats.org/officeDocument/2006/relationships/image" Target="/ppt/media/image35.png" Id="R4d51fe7a312345e0" /><Relationship Type="http://schemas.openxmlformats.org/officeDocument/2006/relationships/image" Target="/ppt/media/image36.png" Id="Re48c673b8bc24157" /><Relationship Type="http://schemas.openxmlformats.org/officeDocument/2006/relationships/image" Target="/ppt/media/image37.png" Id="R931d675d4f4b407c" /><Relationship Type="http://schemas.openxmlformats.org/officeDocument/2006/relationships/image" Target="/ppt/media/image38.png" Id="R319e1cfb2ee64a40" /><Relationship Type="http://schemas.openxmlformats.org/officeDocument/2006/relationships/image" Target="/ppt/media/image39.png" Id="Rf31d3061c2fc40ae" /><Relationship Type="http://schemas.openxmlformats.org/officeDocument/2006/relationships/image" Target="/ppt/media/image40.png" Id="R18690b804f0a428e" /><Relationship Type="http://schemas.openxmlformats.org/officeDocument/2006/relationships/image" Target="/ppt/media/image41.png" Id="Rfdb2a3a5ab0c48b6" /><Relationship Type="http://schemas.openxmlformats.org/officeDocument/2006/relationships/image" Target="/ppt/media/image42.png" Id="R2b26de5f7a7c474e" /><Relationship Type="http://schemas.openxmlformats.org/officeDocument/2006/relationships/image" Target="/ppt/media/image43.png" Id="R9c9e572ade4b4e70" /><Relationship Type="http://schemas.openxmlformats.org/officeDocument/2006/relationships/image" Target="/ppt/media/image44.png" Id="R9527ab316e434407" /><Relationship Type="http://schemas.openxmlformats.org/officeDocument/2006/relationships/image" Target="/ppt/media/image45.png" Id="R3db8a917d6c94c45" /><Relationship Type="http://schemas.openxmlformats.org/officeDocument/2006/relationships/image" Target="/ppt/media/image46.png" Id="R2344f6103c644cb8" /><Relationship Type="http://schemas.openxmlformats.org/officeDocument/2006/relationships/notesSlide" Target="/ppt/notesSlides/notesSlide9.xml" Id="R9cddf11431224e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f0aadb5244a46" /><Relationship Type="http://schemas.openxmlformats.org/officeDocument/2006/relationships/image" Target="/ppt/media/image47.png" Id="R40a8aa8f893f4393" /><Relationship Type="http://schemas.openxmlformats.org/officeDocument/2006/relationships/image" Target="/ppt/media/image48.png" Id="R1a86b139b2874959" /><Relationship Type="http://schemas.openxmlformats.org/officeDocument/2006/relationships/notesSlide" Target="/ppt/notesSlides/notesSlide10.xml" Id="Rd9173ece88b44b3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955e9439df4e72" /><Relationship Type="http://schemas.openxmlformats.org/officeDocument/2006/relationships/notesSlide" Target="/ppt/notesSlides/notesSlide11.xml" Id="R43b57bd3953f44b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082c1e5fd4c6e" /><Relationship Type="http://schemas.openxmlformats.org/officeDocument/2006/relationships/image" Target="/ppt/media/image49.png" Id="R0df8510b459e49d8" /><Relationship Type="http://schemas.openxmlformats.org/officeDocument/2006/relationships/image" Target="/ppt/media/image50.png" Id="R3979f89b208849b4" /><Relationship Type="http://schemas.openxmlformats.org/officeDocument/2006/relationships/image" Target="/ppt/media/image51.png" Id="R68f16c068ac14728" /><Relationship Type="http://schemas.openxmlformats.org/officeDocument/2006/relationships/notesSlide" Target="/ppt/notesSlides/notesSlide12.xml" Id="Ra1fa60d8285d4d5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2bc1e32184927" /><Relationship Type="http://schemas.openxmlformats.org/officeDocument/2006/relationships/image" Target="/ppt/media/image52.png" Id="R05870ed725764b68" /><Relationship Type="http://schemas.openxmlformats.org/officeDocument/2006/relationships/notesSlide" Target="/ppt/notesSlides/notesSlide13.xml" Id="Rde257b325f5d4ac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499dc746a46dd" /><Relationship Type="http://schemas.openxmlformats.org/officeDocument/2006/relationships/notesSlide" Target="/ppt/notesSlides/notesSlide14.xml" Id="R088f9d1749a9406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2b48fb3219447a" /><Relationship Type="http://schemas.openxmlformats.org/officeDocument/2006/relationships/notesSlide" Target="/ppt/notesSlides/notesSlide15.xml" Id="Ra610957a27714e0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f4e711fdc04626" /><Relationship Type="http://schemas.openxmlformats.org/officeDocument/2006/relationships/image" Target="/ppt/media/image53.png" Id="R542e0985ef9248f1" /><Relationship Type="http://schemas.openxmlformats.org/officeDocument/2006/relationships/image" Target="/ppt/media/image54.png" Id="R08676f18243d4798" /><Relationship Type="http://schemas.openxmlformats.org/officeDocument/2006/relationships/notesSlide" Target="/ppt/notesSlides/notesSlide16.xml" Id="R756e89b8aebc4d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08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83379dc2a44a5f"/>
          <a:srcRect xmlns:a="http://schemas.openxmlformats.org/drawingml/2006/main" l="0" t="2855" r="0" b="28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F5A8C-37D6-428D-B533-E0CAB6B5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326">
              <a:alpha val="80000"/>
            </a:srgbClr>
          </a:solidFill>
          <a:ln xmlns:a="http://schemas.openxmlformats.org/drawingml/2006/main" w="0">
            <a:solidFill>
              <a:srgbClr val="061326">
                <a:alpha val="80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D6E7D9-57C7-40A9-989C-54F94EA2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88967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814">
              <a:alpha val="90980"/>
            </a:srgbClr>
          </a:solidFill>
          <a:ln xmlns:a="http://schemas.openxmlformats.org/drawingml/2006/main" w="0">
            <a:solidFill>
              <a:srgbClr val="020814">
                <a:alpha val="9098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dbf6279e8c42c0"/>
          <a:stretch xmlns:a="http://schemas.openxmlformats.org/drawingml/2006/main"/>
        </p:blipFill>
        <p:spPr>
          <a:xfrm xmlns:a="http://schemas.openxmlformats.org/drawingml/2006/main">
            <a:off x="712788" y="552450"/>
            <a:ext cx="2184400" cy="819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17629-4FE0-42BB-8BC8-AEEE680B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92562"/>
            <a:ext cx="4159568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Brand</a:t>
            </a:r>
          </a:p>
          <a:p xmlns:a="http://schemas.openxmlformats.org/drawingml/2006/main">
            <a:pPr algn="l">
              <a:defRPr sz="3750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Guidelines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FD4FD3-9430-4CAE-A01E-A9C2CEDC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4662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8D655-A0A9-4B94-86FB-BC13BD21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0412"/>
            <a:ext cx="3857054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A premium Nigerian lift-solutions identity shaped by architectural clarity and European engineering discipline.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3FB986-1B6A-4857-BA7C-3B57FD8F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820275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VALUE. INNOVATION. PRESTIGE.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EDD99B-1AAF-49FB-9CE3-76094EAE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0201275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C9C7BF"/>
                </a:solidFill>
                <a:latin typeface="Montserrat"/>
                <a:ea typeface="Montserrat"/>
                <a:cs typeface="Montserrat"/>
              </a:defRPr>
            </a:pPr>
            <a:r>
              <a:t>01 / 16</a:t>
            </a:r>
          </a:p>
        </p:txBody>
      </p:sp>
    </p:spTree>
    <p:extLst>
      <p:ext uri="{BB962C8B-B14F-4D97-AF65-F5344CB8AC3E}">
        <p14:creationId xmlns:p14="http://schemas.microsoft.com/office/powerpoint/2010/main" val="16235038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A0F8B5-844A-43DF-8AFD-922FFE87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F5F3C"/>
                </a:solidFill>
                <a:latin typeface="Montserrat"/>
                <a:ea typeface="Montserrat"/>
                <a:cs typeface="Montserrat"/>
              </a:defRPr>
            </a:pPr>
            <a:r>
              <a:t>BRAND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B39E6B-C5F1-4B83-A5F2-37551811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638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Built to elevate confidence.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574491-3D70-4704-A384-EF4E5B69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0F1D8-BFD3-41E1-8BCD-25EE3175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6381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VIP Lift Nigeria is a Nigerian lift-solutions partner that supplies, installs, repairs, services, and maintains selected international lift systems for homes, businesses, and public buildings.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BD68C4-525D-438A-91B5-D2FE5770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0"/>
            <a:ext cx="3048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C3B1AF-87A2-4E86-AB1E-04F25CC3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63C60-8A33-4CC6-8F85-9EB908E7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2628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Premium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68ACC5-6B1A-4984-A90E-DCF46F4F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9600"/>
            <a:ext cx="26289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Refined choices, confident restraint and excellent finish.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E181A1-216E-4887-9F29-7DCC9445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29000"/>
            <a:ext cx="3048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191E14-10FC-4F94-8484-897FD640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60045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681D5A-7858-49F3-91D8-54159E61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924300"/>
            <a:ext cx="2628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Engineering-led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A5C8FB-57D5-49A0-89E7-2400B723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419600"/>
            <a:ext cx="26289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Clear specifications, precise language and practical expertise.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7852FD-806B-43EF-818D-98C9CBF9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05450"/>
            <a:ext cx="3048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16602F-417D-4EBC-9657-49848A92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7690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F2FC6F-4F0B-4DA5-8A06-130B9F66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00750"/>
            <a:ext cx="2628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Locally supported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774789-931D-413A-A2A7-EA6961B1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96050"/>
            <a:ext cx="26289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Service, maintenance and responsive support for Nigerian buildings.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6CC358-19CD-4682-A567-C3288493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505450"/>
            <a:ext cx="3048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D1F06E-F47D-4B17-9BC5-6C383D29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67690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467046-1DDD-4C03-B291-A1BC700F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000750"/>
            <a:ext cx="2628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Architectural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0E6777-6CFE-45EE-BEFC-8CD29802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496050"/>
            <a:ext cx="26289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A visual system that complements spaces rather than competing with them.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f6fd84ae9a459b"/>
          <a:stretch xmlns:a="http://schemas.openxmlformats.org/drawingml/2006/main"/>
        </p:blipFill>
        <p:spPr>
          <a:xfrm xmlns:a="http://schemas.openxmlformats.org/drawingml/2006/main">
            <a:off x="744538" y="8324850"/>
            <a:ext cx="1930400" cy="6096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E289FD-3E9A-4DE5-8320-317AE9FC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220200"/>
            <a:ext cx="6381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F5F3C"/>
                </a:solidFill>
                <a:latin typeface="Montserrat"/>
                <a:ea typeface="Montserrat"/>
                <a:cs typeface="Montserrat"/>
              </a:defRPr>
            </a:pPr>
            <a:r>
              <a:t>Homes  •  Duplexes  •  Apartments  •  Hotels  •  Offices  •  Public buildings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51E8C1-679F-4928-9028-A052E7A3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0201275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A8ADB3"/>
                </a:solidFill>
                <a:latin typeface="Montserrat"/>
                <a:ea typeface="Montserrat"/>
                <a:cs typeface="Montserrat"/>
              </a:defRPr>
            </a:pPr>
            <a:r>
              <a:t>02 / 16</a:t>
            </a:r>
          </a:p>
        </p:txBody>
      </p:sp>
    </p:spTree>
    <p:extLst>
      <p:ext uri="{BB962C8B-B14F-4D97-AF65-F5344CB8AC3E}">
        <p14:creationId xmlns:p14="http://schemas.microsoft.com/office/powerpoint/2010/main" val="21356218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3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9DE6D2-5A3F-4F1A-986B-6FAEFC53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POSITIONING &amp; VOICE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BD3E8A-62B0-4EED-81A5-D2E8F634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638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Calm expertise. Clear service.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46EB76-D9E0-4A66-9FDA-FC729B1D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715EF6-BCEB-4132-B688-DE60B704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POSITIONING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827417-389D-42C3-9232-AD91041C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47900"/>
            <a:ext cx="628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International lift systems,</a:t>
            </a:r>
          </a:p>
          <a:p xmlns:a="http://schemas.openxmlformats.org/drawingml/2006/main">
            <a:pPr algn="l">
              <a:defRPr sz="2400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selected for Nigerian buildings</a:t>
            </a:r>
          </a:p>
          <a:p xmlns:a="http://schemas.openxmlformats.org/drawingml/2006/main">
            <a:pPr algn="l">
              <a:defRPr sz="2400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and supported locally.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20DE1C-19C3-4D7B-A403-2F335DAE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3048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F5F3C"/>
          </a:solidFill>
          <a:ln xmlns:a="http://schemas.openxmlformats.org/drawingml/2006/main" w="0">
            <a:solidFill>
              <a:srgbClr val="0F5F3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D7D57-0A90-499D-BC4F-7C778F10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4850"/>
            <a:ext cx="2628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Clear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710BAB-DB51-47A5-992E-D0418B64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0150"/>
            <a:ext cx="26289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Use direct language and explain technical details without jargon.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2969EB-1F4C-420D-ABFC-18798A38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286250"/>
            <a:ext cx="3048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D1D32"/>
          </a:solidFill>
          <a:ln xmlns:a="http://schemas.openxmlformats.org/drawingml/2006/main" w="0">
            <a:solidFill>
              <a:srgbClr val="0D1D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691107-8F1A-4F67-A812-04FFEC7C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2628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Confident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B8AAEF-C407-4432-AE1C-E7C4811C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010150"/>
            <a:ext cx="26289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State capability precisely; avoid hype and unsupported superiority claims.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EBD3A1-10DC-45E6-A22B-B2D39F97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3048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D1D32"/>
          </a:solidFill>
          <a:ln xmlns:a="http://schemas.openxmlformats.org/drawingml/2006/main" w="0">
            <a:solidFill>
              <a:srgbClr val="0D1D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1128FA-43F4-417B-92DD-AF42C0CA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91300"/>
            <a:ext cx="2628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Service-oriented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99F42F-534B-48A9-87D8-1175FA5B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086600"/>
            <a:ext cx="26289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Lead with outcomes, maintenance support and practical next steps.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552851-F71A-4242-9DF9-62A1F658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6362700"/>
            <a:ext cx="3048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D1D32"/>
          </a:solidFill>
          <a:ln xmlns:a="http://schemas.openxmlformats.org/drawingml/2006/main" w="0">
            <a:solidFill>
              <a:srgbClr val="0D1D3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FCF93E-407B-4298-A452-ECE6E7C8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591300"/>
            <a:ext cx="2628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Premium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ED0CA3-72C3-4237-AC95-627D1865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086600"/>
            <a:ext cx="26289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Sound assured and considered, never loud, ornamental or arrogant.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A3DA1F-A398-4055-A471-3F28D523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439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Preferred service line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F0F875-A24B-4416-98A4-0187F404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67800"/>
            <a:ext cx="6191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8D8D4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Lift supply, installation, repair, servicing and maintenance.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05CDE5-8A73-425B-9010-B810F3EF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0201275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C9C7BF"/>
                </a:solidFill>
                <a:latin typeface="Montserrat"/>
                <a:ea typeface="Montserrat"/>
                <a:cs typeface="Montserrat"/>
              </a:defRPr>
            </a:pPr>
            <a:r>
              <a:t>03 / 16</a:t>
            </a:r>
          </a:p>
        </p:txBody>
      </p:sp>
    </p:spTree>
    <p:extLst>
      <p:ext uri="{BB962C8B-B14F-4D97-AF65-F5344CB8AC3E}">
        <p14:creationId xmlns:p14="http://schemas.microsoft.com/office/powerpoint/2010/main" val="20906697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B97079-FD41-4A2B-9A37-361AC0EE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F5F3C"/>
                </a:solidFill>
                <a:latin typeface="Montserrat"/>
                <a:ea typeface="Montserrat"/>
                <a:cs typeface="Montserrat"/>
              </a:defRPr>
            </a:pPr>
            <a:r>
              <a:t>LOGO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CA0BD9-F06D-4C04-8B20-24C98AC2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638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One identity, several useful lockups.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208E51-7292-4913-838D-E02DCFF6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CE03B6-A616-4F3E-8D31-D9BEA7D3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3048000" cy="2000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61326"/>
          </a:solidFill>
          <a:ln xmlns:a="http://schemas.openxmlformats.org/drawingml/2006/main" w="0">
            <a:solidFill>
              <a:srgbClr val="061326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8e1523dd304559"/>
          <a:stretch xmlns:a="http://schemas.openxmlformats.org/drawingml/2006/main"/>
        </p:blipFill>
        <p:spPr>
          <a:xfrm xmlns:a="http://schemas.openxmlformats.org/drawingml/2006/main">
            <a:off x="1533525" y="2324100"/>
            <a:ext cx="1162050" cy="11620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F27936-892F-4F39-A255-50A80709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D8D8D4"/>
                </a:solidFill>
                <a:latin typeface="Montserrat"/>
                <a:ea typeface="Montserrat"/>
                <a:cs typeface="Montserrat"/>
              </a:defRPr>
            </a:pPr>
            <a:r>
              <a:t>Primary stacked / with slogan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6A3A1D-B6CE-4670-9319-B5EED69B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000250"/>
            <a:ext cx="3048000" cy="2000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0">
            <a:solidFill>
              <a:srgbClr val="F3F5F5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a01f4398bb49b0"/>
          <a:stretch xmlns:a="http://schemas.openxmlformats.org/drawingml/2006/main"/>
        </p:blipFill>
        <p:spPr>
          <a:xfrm xmlns:a="http://schemas.openxmlformats.org/drawingml/2006/main">
            <a:off x="4286250" y="2538162"/>
            <a:ext cx="2324100" cy="733926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A72174-4FD5-409B-8889-4CA9E34D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004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11418"/>
                </a:solidFill>
                <a:latin typeface="Montserrat"/>
                <a:ea typeface="Montserrat"/>
                <a:cs typeface="Montserrat"/>
              </a:defRPr>
            </a:pPr>
            <a:r>
              <a:t>Horizontal / without slogan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7B227C-8006-4902-926E-1F2FDEF9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24350"/>
            <a:ext cx="3048000" cy="2000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0">
            <a:solidFill>
              <a:srgbClr val="F3F5F5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53e104d2224cf1"/>
          <a:stretch xmlns:a="http://schemas.openxmlformats.org/drawingml/2006/main"/>
        </p:blipFill>
        <p:spPr>
          <a:xfrm xmlns:a="http://schemas.openxmlformats.org/drawingml/2006/main">
            <a:off x="1533525" y="4648200"/>
            <a:ext cx="1162050" cy="11620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D39743-4FEB-4182-A323-30832FCE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245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11418"/>
                </a:solidFill>
                <a:latin typeface="Montserrat"/>
                <a:ea typeface="Montserrat"/>
                <a:cs typeface="Montserrat"/>
              </a:defRPr>
            </a:pPr>
            <a:r>
              <a:t>Symbol only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D95E9F-ACC1-4848-B215-15884438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324350"/>
            <a:ext cx="3048000" cy="2000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0">
            <a:solidFill>
              <a:srgbClr val="F3F5F5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3ecdc2a5f24450"/>
          <a:stretch xmlns:a="http://schemas.openxmlformats.org/drawingml/2006/main"/>
        </p:blipFill>
        <p:spPr>
          <a:xfrm xmlns:a="http://schemas.openxmlformats.org/drawingml/2006/main">
            <a:off x="4286250" y="4793456"/>
            <a:ext cx="2324100" cy="871538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C4C96D-3F92-4782-B06B-28BE3F5F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9245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111418"/>
                </a:solidFill>
                <a:latin typeface="Montserrat"/>
                <a:ea typeface="Montserrat"/>
                <a:cs typeface="Montserrat"/>
              </a:defRPr>
            </a:pPr>
            <a:r>
              <a:t>Wordmark 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F90C81-EC11-4F2B-B7D0-AB79B390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97230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7CC727-BE18-4247-8CA0-A8EAFEBF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96100"/>
            <a:ext cx="619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Use the stacked lockup for covers, premium presentations and formal brand moments.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32C5CF-09D6-4135-9803-CC6D994F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52475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1A866F-B39A-44E1-A645-DE2582AF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48550"/>
            <a:ext cx="619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Use a no-slogan horizontal lockup when the slogan would reproduce too small.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526CF8-4DE6-443B-A85F-B73492FE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7720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69D597-B251-4BCC-A36D-8B436CDD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01000"/>
            <a:ext cx="619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Use symbol-only artwork for profile icons, patterns and restrained supporting marks.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CE2D48-E965-48AA-AA56-3C6CA094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62965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03BCA1-DC25-451F-89C0-B057AF7A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53450"/>
            <a:ext cx="619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Never type, trace or reconstruct the custom VIP LIFT wordmark.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852196-6816-4BEF-9F3A-FEB431B7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0201275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A8ADB3"/>
                </a:solidFill>
                <a:latin typeface="Montserrat"/>
                <a:ea typeface="Montserrat"/>
                <a:cs typeface="Montserrat"/>
              </a:defRPr>
            </a:pPr>
            <a:r>
              <a:t>04 / 16</a:t>
            </a:r>
          </a:p>
        </p:txBody>
      </p:sp>
    </p:spTree>
    <p:extLst>
      <p:ext uri="{BB962C8B-B14F-4D97-AF65-F5344CB8AC3E}">
        <p14:creationId xmlns:p14="http://schemas.microsoft.com/office/powerpoint/2010/main" val="5366874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3F1144-1839-4250-829F-2B64900D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F5F3C"/>
                </a:solidFill>
                <a:latin typeface="Montserrat"/>
                <a:ea typeface="Montserrat"/>
                <a:cs typeface="Montserrat"/>
              </a:defRPr>
            </a:pPr>
            <a:r>
              <a:t>CLEAR SPACE &amp; SIZE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026B1A-A1D0-4DAE-82B6-9C990815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638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Give the mark room to work.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2B8AF4-ECDD-4383-BD45-0BF1EB4C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F0E2A7-E353-4CFB-B9BE-4E5A42ED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63817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3A5C14-8D1E-4902-8AAF-DC41D0F2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71750"/>
            <a:ext cx="4857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9EEEC"/>
          </a:solidFill>
          <a:ln xmlns:a="http://schemas.openxmlformats.org/drawingml/2006/main" w="19050">
            <a:solidFill>
              <a:srgbClr val="168A55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a660ec237e4003"/>
          <a:stretch xmlns:a="http://schemas.openxmlformats.org/drawingml/2006/main"/>
        </p:blipFill>
        <p:spPr>
          <a:xfrm xmlns:a="http://schemas.openxmlformats.org/drawingml/2006/main">
            <a:off x="2130425" y="3028950"/>
            <a:ext cx="3302000" cy="1238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21BC9D-0353-4D6D-ADEE-BE630FEB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5F3C"/>
                </a:solidFill>
                <a:latin typeface="Montserrat"/>
                <a:ea typeface="Montserrat"/>
                <a:cs typeface="Montserrat"/>
              </a:defRPr>
            </a:pPr>
            <a:r>
              <a:t>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436063-F952-4DCF-924C-0503134B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29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F5F3C"/>
                </a:solidFill>
                <a:latin typeface="Montserrat"/>
                <a:ea typeface="Montserrat"/>
                <a:cs typeface="Montserrat"/>
              </a:defRPr>
            </a:pPr>
            <a:r>
              <a:t>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FF016D-53B5-4771-B946-58835177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581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Clear space: at least the height of the symbol stem (X) on every side.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E2A656-030C-48E2-B5C4-1660DCA6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0"/>
            <a:ext cx="3048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46B749-BB62-4132-B77A-FA435C27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7220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DIGITAL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6A2C56-9536-4946-BA6D-E3061E84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96050"/>
            <a:ext cx="2628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Minimum digital size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8B62F7-55C6-4691-AF85-58C03C7A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991350"/>
            <a:ext cx="2628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With slogan: 240 px wide</a:t>
            </a:r>
          </a:p>
          <a:p xmlns:a="http://schemas.openxmlformats.org/drawingml/2006/main">
            <a:pPr algn="l">
              <a:defRPr sz="938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Without slogan: 140 px wide</a:t>
            </a:r>
          </a:p>
          <a:p xmlns:a="http://schemas.openxmlformats.org/drawingml/2006/main">
            <a:pPr algn="l">
              <a:defRPr sz="938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Symbol only: 32 px square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8ACAC0-6E70-49B4-A6C4-00468784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000750"/>
            <a:ext cx="3048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EFC040-BF97-45E2-965D-573927DC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617220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PRINT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E87A06-7155-4AA9-8885-97994EB4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6496050"/>
            <a:ext cx="2628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Minimum print size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10DB3E-E0BF-4A7A-8372-DA95C0D9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6991350"/>
            <a:ext cx="2628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With slogan: 48 mm wide</a:t>
            </a:r>
          </a:p>
          <a:p xmlns:a="http://schemas.openxmlformats.org/drawingml/2006/main">
            <a:pPr algn="l">
              <a:defRPr sz="938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Without slogan: 28 mm wide</a:t>
            </a:r>
          </a:p>
          <a:p xmlns:a="http://schemas.openxmlformats.org/drawingml/2006/main">
            <a:pPr algn="l">
              <a:defRPr sz="938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Symbol only: 8 mm square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CDD4D3-331F-42B6-BBA2-DFB5BD21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572500"/>
            <a:ext cx="638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When in doubt, use a simpler lockup rather than reducing the slogan below legibility.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B77E2F-EB06-4D9C-BD32-9FD18EF9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0201275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A8ADB3"/>
                </a:solidFill>
                <a:latin typeface="Montserrat"/>
                <a:ea typeface="Montserrat"/>
                <a:cs typeface="Montserrat"/>
              </a:defRPr>
            </a:pPr>
            <a:r>
              <a:t>05 / 16</a:t>
            </a:r>
          </a:p>
        </p:txBody>
      </p:sp>
    </p:spTree>
    <p:extLst>
      <p:ext uri="{BB962C8B-B14F-4D97-AF65-F5344CB8AC3E}">
        <p14:creationId xmlns:p14="http://schemas.microsoft.com/office/powerpoint/2010/main" val="9807336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9B8B06-AAB6-41FD-A66C-1C48DBE8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F5F3C"/>
                </a:solidFill>
                <a:latin typeface="Montserrat"/>
                <a:ea typeface="Montserrat"/>
                <a:cs typeface="Montserrat"/>
              </a:defRPr>
            </a:pPr>
            <a:r>
              <a:t>INCORRECT USAGE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CE002B-E377-44D2-9D26-87357569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638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Protect recognition and credibility.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737F1C-010D-4717-93EF-3B030F3A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F050DC-473E-4418-8AA1-F6A33019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3048000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E0E3E2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4a75a76e69452d"/>
          <a:stretch xmlns:a="http://schemas.openxmlformats.org/drawingml/2006/main"/>
        </p:blipFill>
        <p:spPr>
          <a:xfrm xmlns:a="http://schemas.openxmlformats.org/drawingml/2006/main">
            <a:off x="1371600" y="2299034"/>
            <a:ext cx="1485900" cy="46923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73ABBA-32C8-4827-A46C-3271A296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40"/>
          </a:solidFill>
          <a:ln xmlns:a="http://schemas.openxmlformats.org/drawingml/2006/main" w="0">
            <a:solidFill>
              <a:srgbClr val="A63D4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5896ED-60B9-4853-99F3-EA79A71E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A63D40"/>
                </a:solidFill>
                <a:latin typeface="Montserrat"/>
                <a:ea typeface="Montserrat"/>
                <a:cs typeface="Montserrat"/>
              </a:defRPr>
            </a:pPr>
            <a:r>
              <a:t>×  Do not stretch or compress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6D0C3B-93FA-44FA-8F47-EAAF03DF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24050"/>
            <a:ext cx="3048000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E0E3E2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4d1ee3c25d4925"/>
          <a:stretch xmlns:a="http://schemas.openxmlformats.org/drawingml/2006/main"/>
        </p:blipFill>
        <p:spPr>
          <a:xfrm xmlns:a="http://schemas.openxmlformats.org/drawingml/2006/main">
            <a:off x="5010150" y="2171700"/>
            <a:ext cx="723900" cy="7239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4C7988-867D-4DC2-B009-8C94CDD7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99085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40"/>
          </a:solidFill>
          <a:ln xmlns:a="http://schemas.openxmlformats.org/drawingml/2006/main" w="0">
            <a:solidFill>
              <a:srgbClr val="A63D4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4179AD-4E79-411F-90D6-F73D9B51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2420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A63D40"/>
                </a:solidFill>
                <a:latin typeface="Montserrat"/>
                <a:ea typeface="Montserrat"/>
                <a:cs typeface="Montserrat"/>
              </a:defRPr>
            </a:pPr>
            <a:r>
              <a:t>×  Do not rotate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01AAE6-A07C-4467-9182-E89FD9BC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29050"/>
            <a:ext cx="3048000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E0E3E2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23b4fbf7cc4ab9"/>
          <a:stretch xmlns:a="http://schemas.openxmlformats.org/drawingml/2006/main"/>
        </p:blipFill>
        <p:spPr>
          <a:xfrm xmlns:a="http://schemas.openxmlformats.org/drawingml/2006/main">
            <a:off x="1752600" y="4076700"/>
            <a:ext cx="723900" cy="7239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ACE96B-5886-44E8-A918-501F552B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40"/>
          </a:solidFill>
          <a:ln xmlns:a="http://schemas.openxmlformats.org/drawingml/2006/main" w="0">
            <a:solidFill>
              <a:srgbClr val="A63D4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BA0136-CC38-4937-BFAB-53C75430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2920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A63D40"/>
                </a:solidFill>
                <a:latin typeface="Montserrat"/>
                <a:ea typeface="Montserrat"/>
                <a:cs typeface="Montserrat"/>
              </a:defRPr>
            </a:pPr>
            <a:r>
              <a:t>×  Do not recolour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616972-A4CF-4E3C-A62A-BD832EAD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829050"/>
            <a:ext cx="3048000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E0E3E2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832742c2724885"/>
          <a:stretch xmlns:a="http://schemas.openxmlformats.org/drawingml/2006/main"/>
        </p:blipFill>
        <p:spPr>
          <a:xfrm xmlns:a="http://schemas.openxmlformats.org/drawingml/2006/main">
            <a:off x="4629150" y="4204034"/>
            <a:ext cx="1485900" cy="469232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A123EC-E89F-4550-8C1F-433452BA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89585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40"/>
          </a:solidFill>
          <a:ln xmlns:a="http://schemas.openxmlformats.org/drawingml/2006/main" w="0">
            <a:solidFill>
              <a:srgbClr val="A63D4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4C6C2A-94A6-46E2-8BB4-DF969458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02920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A63D40"/>
                </a:solidFill>
                <a:latin typeface="Montserrat"/>
                <a:ea typeface="Montserrat"/>
                <a:cs typeface="Montserrat"/>
              </a:defRPr>
            </a:pPr>
            <a:r>
              <a:t>×  Do not add shadows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CB178A-50C7-4A74-943A-11E657BB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34050"/>
            <a:ext cx="3048000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E0E3E2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9ffaeda92241d0"/>
          <a:stretch xmlns:a="http://schemas.openxmlformats.org/drawingml/2006/main"/>
        </p:blipFill>
        <p:spPr>
          <a:xfrm xmlns:a="http://schemas.openxmlformats.org/drawingml/2006/main">
            <a:off x="1752600" y="5981700"/>
            <a:ext cx="723900" cy="7239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F918D3-412E-4A32-A829-64670D71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0085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40"/>
          </a:solidFill>
          <a:ln xmlns:a="http://schemas.openxmlformats.org/drawingml/2006/main" w="0">
            <a:solidFill>
              <a:srgbClr val="A63D4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F1C110-9E75-409F-991A-C199655F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93420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A63D40"/>
                </a:solidFill>
                <a:latin typeface="Montserrat"/>
                <a:ea typeface="Montserrat"/>
                <a:cs typeface="Montserrat"/>
              </a:defRPr>
            </a:pPr>
            <a:r>
              <a:t>×  Do not outline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9DA688-FEFF-4D6E-BD38-1E994B54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734050"/>
            <a:ext cx="3048000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E0E3E2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87e407db1d4f1f"/>
          <a:stretch xmlns:a="http://schemas.openxmlformats.org/drawingml/2006/main"/>
        </p:blipFill>
        <p:spPr>
          <a:xfrm xmlns:a="http://schemas.openxmlformats.org/drawingml/2006/main">
            <a:off x="5010150" y="5981700"/>
            <a:ext cx="723900" cy="7239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6AEA28-952D-4EEC-9B12-1ABE07E0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680085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40"/>
          </a:solidFill>
          <a:ln xmlns:a="http://schemas.openxmlformats.org/drawingml/2006/main" w="0">
            <a:solidFill>
              <a:srgbClr val="A63D4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DCDFBD-CE1C-4825-8CA5-ABEC4D70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93420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A63D40"/>
                </a:solidFill>
                <a:latin typeface="Montserrat"/>
                <a:ea typeface="Montserrat"/>
                <a:cs typeface="Montserrat"/>
              </a:defRPr>
            </a:pPr>
            <a:r>
              <a:t>×  Do not use on busy imagery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88F5AE-DD21-47C9-A050-0E5ED862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639050"/>
            <a:ext cx="3048000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E0E3E2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ce3e58b41a44af"/>
          <a:stretch xmlns:a="http://schemas.openxmlformats.org/drawingml/2006/main"/>
        </p:blipFill>
        <p:spPr>
          <a:xfrm xmlns:a="http://schemas.openxmlformats.org/drawingml/2006/main">
            <a:off x="1371600" y="8014034"/>
            <a:ext cx="1485900" cy="469232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5157FA-5324-4EEA-8A56-8DCBD4DE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0585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40"/>
          </a:solidFill>
          <a:ln xmlns:a="http://schemas.openxmlformats.org/drawingml/2006/main" w="0">
            <a:solidFill>
              <a:srgbClr val="A63D4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F3299E-D566-4211-BD8E-8AEB84D6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83920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A63D40"/>
                </a:solidFill>
                <a:latin typeface="Montserrat"/>
                <a:ea typeface="Montserrat"/>
                <a:cs typeface="Montserrat"/>
              </a:defRPr>
            </a:pPr>
            <a:r>
              <a:t>×  Do not recreate the wordmark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7C12E0-9123-4052-905B-27DD7C8A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7639050"/>
            <a:ext cx="3048000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E0E3E2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aed3f84dc643b2"/>
          <a:stretch xmlns:a="http://schemas.openxmlformats.org/drawingml/2006/main"/>
        </p:blipFill>
        <p:spPr>
          <a:xfrm xmlns:a="http://schemas.openxmlformats.org/drawingml/2006/main">
            <a:off x="5010150" y="7886700"/>
            <a:ext cx="723900" cy="72390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E4A7E4-D58A-409E-B55E-7A5DD7B7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870585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40"/>
          </a:solidFill>
          <a:ln xmlns:a="http://schemas.openxmlformats.org/drawingml/2006/main" w="0">
            <a:solidFill>
              <a:srgbClr val="A63D4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E24097-65A4-43DB-AC41-5BD20EBF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883920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A63D40"/>
                </a:solidFill>
                <a:latin typeface="Montserrat"/>
                <a:ea typeface="Montserrat"/>
                <a:cs typeface="Montserrat"/>
              </a:defRPr>
            </a:pPr>
            <a:r>
              <a:t>×  Do not use low-resolution files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823CC1-805A-45E1-8E46-462F61C1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0201275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A8ADB3"/>
                </a:solidFill>
                <a:latin typeface="Montserrat"/>
                <a:ea typeface="Montserrat"/>
                <a:cs typeface="Montserrat"/>
              </a:defRPr>
            </a:pPr>
            <a:r>
              <a:t>06 / 16</a:t>
            </a:r>
          </a:p>
        </p:txBody>
      </p:sp>
    </p:spTree>
    <p:extLst>
      <p:ext uri="{BB962C8B-B14F-4D97-AF65-F5344CB8AC3E}">
        <p14:creationId xmlns:p14="http://schemas.microsoft.com/office/powerpoint/2010/main" val="18757203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208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283CDD-3077-46E1-9A70-8571B84A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COLOUR PALETTE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2893F4-9C24-4075-849C-A6DF2BC3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638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849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Dark depth. Precise light. Restrained green.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DCDA6-ED9B-41CD-B153-19BC2C15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FD39A9-8530-4C46-A005-54F53B5D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19240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61326"/>
          </a:solidFill>
          <a:ln xmlns:a="http://schemas.openxmlformats.org/drawingml/2006/main" w="9525">
            <a:solidFill>
              <a:srgbClr val="06132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45970F-A7E2-48D9-B32F-6B4BAF76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t>Midnight Navy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42DF2C-5AA3-41C8-858F-5D22FB3F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D8D8D4"/>
                </a:solidFill>
                <a:latin typeface="Montserrat"/>
                <a:ea typeface="Montserrat"/>
                <a:cs typeface="Montserrat"/>
              </a:defRPr>
            </a:pPr>
            <a:r>
              <a:t>#061326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246BC6-0FE8-47E4-A544-555B9CF9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00250"/>
            <a:ext cx="19240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20814"/>
          </a:solidFill>
          <a:ln xmlns:a="http://schemas.openxmlformats.org/drawingml/2006/main" w="9525">
            <a:solidFill>
              <a:srgbClr val="0208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9AB6B5-0854-4970-A5FB-5DFFCAA5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2575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t>Deep Navy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2548CD-0454-4F41-BE0F-62DD28FD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5052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D8D8D4"/>
                </a:solidFill>
                <a:latin typeface="Montserrat"/>
                <a:ea typeface="Montserrat"/>
                <a:cs typeface="Montserrat"/>
              </a:defRPr>
            </a:pPr>
            <a:r>
              <a:t>#020814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7D7F67-5514-4CC0-AED4-C8D03101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00250"/>
            <a:ext cx="19240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D8D8D4"/>
          </a:solidFill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8FF11A-FA1D-4B70-86AD-32C152D4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575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61326"/>
                </a:solidFill>
                <a:latin typeface="Montserrat"/>
                <a:ea typeface="Montserrat"/>
                <a:cs typeface="Montserrat"/>
              </a:defRPr>
            </a:pPr>
            <a:r>
              <a:t>Platinum Silver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5F0443-6C35-4ED8-BB3B-90064D02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052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111418"/>
                </a:solidFill>
                <a:latin typeface="Montserrat"/>
                <a:ea typeface="Montserrat"/>
                <a:cs typeface="Montserrat"/>
              </a:defRPr>
            </a:pPr>
            <a:r>
              <a:t>#D8D8D4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58855A-44D3-44C9-BBAF-A1AA0904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52900"/>
            <a:ext cx="19240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C9C7BF"/>
          </a:solidFill>
          <a:ln xmlns:a="http://schemas.openxmlformats.org/drawingml/2006/main" w="9525">
            <a:solidFill>
              <a:srgbClr val="C9C7B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9B9EBE-C215-4791-B50C-F91714A8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02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61326"/>
                </a:solidFill>
                <a:latin typeface="Montserrat"/>
                <a:ea typeface="Montserrat"/>
                <a:cs typeface="Montserrat"/>
              </a:defRPr>
            </a:pPr>
            <a:r>
              <a:t>Warm Silver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32D857-EBEB-477D-9320-D3442F06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578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111418"/>
                </a:solidFill>
                <a:latin typeface="Montserrat"/>
                <a:ea typeface="Montserrat"/>
                <a:cs typeface="Montserrat"/>
              </a:defRPr>
            </a:pPr>
            <a:r>
              <a:t>#C9C7BF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48435A-3E9D-4BB0-9BC9-DFE2EACE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152900"/>
            <a:ext cx="19240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68A55"/>
          </a:solidFill>
          <a:ln xmlns:a="http://schemas.openxmlformats.org/drawingml/2006/main" w="9525">
            <a:solidFill>
              <a:srgbClr val="168A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52F8AD-5A06-4D82-A222-2482E55C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t>Emerald Accent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07D4FC-E045-403A-8BA2-4A964055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6578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D8D8D4"/>
                </a:solidFill>
                <a:latin typeface="Montserrat"/>
                <a:ea typeface="Montserrat"/>
                <a:cs typeface="Montserrat"/>
              </a:defRPr>
            </a:pPr>
            <a:r>
              <a:t>#168A55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A98D1B-8583-48CB-AD60-8CD84EB0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52900"/>
            <a:ext cx="19240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F5F3C"/>
          </a:solidFill>
          <a:ln xmlns:a="http://schemas.openxmlformats.org/drawingml/2006/main" w="9525">
            <a:solidFill>
              <a:srgbClr val="0F5F3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37EA24-1A9D-4FCE-A7A1-A6A630DD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4102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t>Deep Emerald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C96243-37A6-4C1E-8480-24222A01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6578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D8D8D4"/>
                </a:solidFill>
                <a:latin typeface="Montserrat"/>
                <a:ea typeface="Montserrat"/>
                <a:cs typeface="Montserrat"/>
              </a:defRPr>
            </a:pPr>
            <a:r>
              <a:t>#0F5F3C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D7ABC0-60CE-4FA1-B36D-CA7D8656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05550"/>
            <a:ext cx="19240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DB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2AA509-0C9A-412C-947A-F6B2480E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628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61326"/>
                </a:solidFill>
                <a:latin typeface="Montserrat"/>
                <a:ea typeface="Montserrat"/>
                <a:cs typeface="Montserrat"/>
              </a:defRPr>
            </a:pPr>
            <a:r>
              <a:t>Pure White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DB8B64-48A0-4AEB-A916-C767C1E1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111418"/>
                </a:solidFill>
                <a:latin typeface="Montserrat"/>
                <a:ea typeface="Montserrat"/>
                <a:cs typeface="Montserrat"/>
              </a:defRPr>
            </a:pPr>
            <a:r>
              <a:t>#FFFFFF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6848A3-6EBE-4BE5-B793-C2951D53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6305550"/>
            <a:ext cx="19240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11418"/>
          </a:solidFill>
          <a:ln xmlns:a="http://schemas.openxmlformats.org/drawingml/2006/main" w="9525">
            <a:solidFill>
              <a:srgbClr val="11141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094D01-1E88-40E3-B310-7B972B41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75628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t>Graphite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4A47C4-E295-40B4-8790-23C8BA9D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78105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D8D8D4"/>
                </a:solidFill>
                <a:latin typeface="Montserrat"/>
                <a:ea typeface="Montserrat"/>
                <a:cs typeface="Montserrat"/>
              </a:defRPr>
            </a:pPr>
            <a:r>
              <a:t>#111418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DC7D21-4C20-45A8-B2B2-D36DF0F0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6305550"/>
            <a:ext cx="19240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A8ADB3"/>
          </a:solidFill>
          <a:ln xmlns:a="http://schemas.openxmlformats.org/drawingml/2006/main" w="9525">
            <a:solidFill>
              <a:srgbClr val="A8ADB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18B93F-4949-4ED3-B64F-6E2284AD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75628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61326"/>
                </a:solidFill>
                <a:latin typeface="Montserrat"/>
                <a:ea typeface="Montserrat"/>
                <a:cs typeface="Montserrat"/>
              </a:defRPr>
            </a:pPr>
            <a:r>
              <a:t>Cool Grey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B2824B-4563-46A6-BE6A-C0EBE312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78105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111418"/>
                </a:solidFill>
                <a:latin typeface="Montserrat"/>
                <a:ea typeface="Montserrat"/>
                <a:cs typeface="Montserrat"/>
              </a:defRPr>
            </a:pPr>
            <a:r>
              <a:t>#A8ADB3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314122-73B7-49CF-8EEF-92023E46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0"/>
            <a:ext cx="6381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D8D8D4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Emerald is an accent, not a field colour. Navy and white carry the system.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AFADF0-C84B-4BE3-B5A0-03E5D1E8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0201275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C9C7BF"/>
                </a:solidFill>
                <a:latin typeface="Montserrat"/>
                <a:ea typeface="Montserrat"/>
                <a:cs typeface="Montserrat"/>
              </a:defRPr>
            </a:pPr>
            <a:r>
              <a:t>07 / 16</a:t>
            </a:r>
          </a:p>
        </p:txBody>
      </p:sp>
    </p:spTree>
    <p:extLst>
      <p:ext uri="{BB962C8B-B14F-4D97-AF65-F5344CB8AC3E}">
        <p14:creationId xmlns:p14="http://schemas.microsoft.com/office/powerpoint/2010/main" val="2025591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3B9204-5ECF-4179-8F1B-A8C308C2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F5F3C"/>
                </a:solidFill>
                <a:latin typeface="Montserrat"/>
                <a:ea typeface="Montserrat"/>
                <a:cs typeface="Montserrat"/>
              </a:defRPr>
            </a:pPr>
            <a:r>
              <a:t>TYPOGRAPHY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617EA3-5502-499C-B123-A8B8B27A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638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657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Elegant headings. Uncomplicated reading.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089AAF-5EC7-4889-ABBA-E7339686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CB8C87-7FEC-47B5-A327-5F1467DF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638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Cormorant Garamond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92D1AF-4620-494F-9C20-5BBBC086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47950"/>
            <a:ext cx="590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Display serif for cover titles, major headings and premium editorial moments.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00BE81-D6FC-4F92-86E2-D2E637C2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EC"/>
          </a:solidFill>
          <a:ln xmlns:a="http://schemas.openxmlformats.org/drawingml/2006/main" w="0">
            <a:solidFill>
              <a:srgbClr val="E9EE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20C5D3-CB0A-4A9D-AD95-695FD9AD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38550"/>
            <a:ext cx="638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61326"/>
                </a:solidFill>
                <a:latin typeface="Inter"/>
                <a:ea typeface="Inter"/>
                <a:cs typeface="Inter"/>
              </a:defRPr>
            </a:pPr>
            <a:r>
              <a:t>Inter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AC8599-8C5F-4EF8-8469-0A2B2A50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29100"/>
            <a:ext cx="590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Primary sans-serif for documents, specifications, tables, digital interfaces and body copy.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3B3354-DA9B-46B6-B7E2-7B0AC232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965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EC"/>
          </a:solidFill>
          <a:ln xmlns:a="http://schemas.openxmlformats.org/drawingml/2006/main" w="0">
            <a:solidFill>
              <a:srgbClr val="E9EE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22ECF0-FEB7-48D7-AA11-7EFB8E25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0"/>
            <a:ext cx="638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F5F3C"/>
                </a:solidFill>
                <a:latin typeface="Montserrat"/>
                <a:ea typeface="Montserrat"/>
                <a:cs typeface="Montserrat"/>
              </a:defRPr>
            </a:pPr>
            <a:r>
              <a:t>MONTSERRAT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8B466C-89F2-462D-B59A-F938BCF3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0"/>
            <a:ext cx="590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Geometric accent for short uppercase labels, navigation and technical details.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813A35-6833-4766-B49B-652F7BD2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762750"/>
            <a:ext cx="63817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61326"/>
          </a:solidFill>
          <a:ln xmlns:a="http://schemas.openxmlformats.org/drawingml/2006/main" w="0">
            <a:solidFill>
              <a:srgbClr val="061326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edc843c1ea4a17"/>
          <a:stretch xmlns:a="http://schemas.openxmlformats.org/drawingml/2006/main"/>
        </p:blipFill>
        <p:spPr>
          <a:xfrm xmlns:a="http://schemas.openxmlformats.org/drawingml/2006/main">
            <a:off x="895350" y="7156283"/>
            <a:ext cx="2333625" cy="736934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1D44C8-EBC9-43AD-8C6D-DDA41F06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7162800"/>
            <a:ext cx="285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The wordmark is supplied artwork.</a:t>
            </a:r>
          </a:p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It is never recreated with a font.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5C946C-6F9A-4731-BBBB-56DCFE39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63050"/>
            <a:ext cx="638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A8ADB3"/>
                </a:solidFill>
                <a:latin typeface="Inter"/>
                <a:ea typeface="Inter"/>
                <a:cs typeface="Inter"/>
              </a:defRPr>
            </a:pPr>
            <a:r>
              <a:t>Fallbacks when brand fonts are unavailable: Baskerville, Avenir Next and Arial.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941D23-8883-452F-AACE-7992A4BC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0201275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A8ADB3"/>
                </a:solidFill>
                <a:latin typeface="Montserrat"/>
                <a:ea typeface="Montserrat"/>
                <a:cs typeface="Montserrat"/>
              </a:defRPr>
            </a:pPr>
            <a:r>
              <a:t>08 / 16</a:t>
            </a:r>
          </a:p>
        </p:txBody>
      </p:sp>
    </p:spTree>
    <p:extLst>
      <p:ext uri="{BB962C8B-B14F-4D97-AF65-F5344CB8AC3E}">
        <p14:creationId xmlns:p14="http://schemas.microsoft.com/office/powerpoint/2010/main" val="12304080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B56E1F-8893-4A02-BBA1-FA28A3C6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F5F3C"/>
                </a:solidFill>
                <a:latin typeface="Montserrat"/>
                <a:ea typeface="Montserrat"/>
                <a:cs typeface="Montserrat"/>
              </a:defRPr>
            </a:pPr>
            <a:r>
              <a:t>BRAND PATTERNS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BC5CCF-ECE6-401B-9222-FE3A6295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638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Identity-derived, never decorative noise.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D88350-950A-4054-9C07-678BAE2F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B7A2D1-988C-42AA-8474-0EFDA2DE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638175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061326"/>
          </a:solidFill>
          <a:ln xmlns:a="http://schemas.openxmlformats.org/drawingml/2006/main" w="0">
            <a:solidFill>
              <a:srgbClr val="061326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164f39682746ec"/>
          <a:stretch xmlns:a="http://schemas.openxmlformats.org/drawingml/2006/main"/>
        </p:blipFill>
        <p:spPr>
          <a:xfrm xmlns:a="http://schemas.openxmlformats.org/drawingml/2006/main">
            <a:off x="838200" y="216217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7547133a884791"/>
          <a:stretch xmlns:a="http://schemas.openxmlformats.org/drawingml/2006/main"/>
        </p:blipFill>
        <p:spPr>
          <a:xfrm xmlns:a="http://schemas.openxmlformats.org/drawingml/2006/main">
            <a:off x="1504950" y="216217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f6b5fc273849fb"/>
          <a:stretch xmlns:a="http://schemas.openxmlformats.org/drawingml/2006/main"/>
        </p:blipFill>
        <p:spPr>
          <a:xfrm xmlns:a="http://schemas.openxmlformats.org/drawingml/2006/main">
            <a:off x="2171700" y="216217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a34485bc0d4ef0"/>
          <a:stretch xmlns:a="http://schemas.openxmlformats.org/drawingml/2006/main"/>
        </p:blipFill>
        <p:spPr>
          <a:xfrm xmlns:a="http://schemas.openxmlformats.org/drawingml/2006/main">
            <a:off x="2838450" y="216217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9851624f1e4afa"/>
          <a:stretch xmlns:a="http://schemas.openxmlformats.org/drawingml/2006/main"/>
        </p:blipFill>
        <p:spPr>
          <a:xfrm xmlns:a="http://schemas.openxmlformats.org/drawingml/2006/main">
            <a:off x="3505200" y="216217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3847e201704dcf"/>
          <a:stretch xmlns:a="http://schemas.openxmlformats.org/drawingml/2006/main"/>
        </p:blipFill>
        <p:spPr>
          <a:xfrm xmlns:a="http://schemas.openxmlformats.org/drawingml/2006/main">
            <a:off x="4171950" y="216217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72adeb571f4e38"/>
          <a:stretch xmlns:a="http://schemas.openxmlformats.org/drawingml/2006/main"/>
        </p:blipFill>
        <p:spPr>
          <a:xfrm xmlns:a="http://schemas.openxmlformats.org/drawingml/2006/main">
            <a:off x="4838700" y="216217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dfbc64138f4c1e"/>
          <a:stretch xmlns:a="http://schemas.openxmlformats.org/drawingml/2006/main"/>
        </p:blipFill>
        <p:spPr>
          <a:xfrm xmlns:a="http://schemas.openxmlformats.org/drawingml/2006/main">
            <a:off x="838200" y="275272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0c30b15754491c"/>
          <a:stretch xmlns:a="http://schemas.openxmlformats.org/drawingml/2006/main"/>
        </p:blipFill>
        <p:spPr>
          <a:xfrm xmlns:a="http://schemas.openxmlformats.org/drawingml/2006/main">
            <a:off x="1504950" y="275272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9cd56516334992"/>
          <a:stretch xmlns:a="http://schemas.openxmlformats.org/drawingml/2006/main"/>
        </p:blipFill>
        <p:spPr>
          <a:xfrm xmlns:a="http://schemas.openxmlformats.org/drawingml/2006/main">
            <a:off x="2171700" y="275272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3f791d3adc4f6d"/>
          <a:stretch xmlns:a="http://schemas.openxmlformats.org/drawingml/2006/main"/>
        </p:blipFill>
        <p:spPr>
          <a:xfrm xmlns:a="http://schemas.openxmlformats.org/drawingml/2006/main">
            <a:off x="2838450" y="275272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3379df8a4343f2"/>
          <a:stretch xmlns:a="http://schemas.openxmlformats.org/drawingml/2006/main"/>
        </p:blipFill>
        <p:spPr>
          <a:xfrm xmlns:a="http://schemas.openxmlformats.org/drawingml/2006/main">
            <a:off x="3505200" y="275272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3179329c944274"/>
          <a:stretch xmlns:a="http://schemas.openxmlformats.org/drawingml/2006/main"/>
        </p:blipFill>
        <p:spPr>
          <a:xfrm xmlns:a="http://schemas.openxmlformats.org/drawingml/2006/main">
            <a:off x="4171950" y="275272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452252e6c746ce"/>
          <a:stretch xmlns:a="http://schemas.openxmlformats.org/drawingml/2006/main"/>
        </p:blipFill>
        <p:spPr>
          <a:xfrm xmlns:a="http://schemas.openxmlformats.org/drawingml/2006/main">
            <a:off x="4838700" y="275272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468c91b7174059"/>
          <a:stretch xmlns:a="http://schemas.openxmlformats.org/drawingml/2006/main"/>
        </p:blipFill>
        <p:spPr>
          <a:xfrm xmlns:a="http://schemas.openxmlformats.org/drawingml/2006/main">
            <a:off x="838200" y="334327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360256f6b04718"/>
          <a:stretch xmlns:a="http://schemas.openxmlformats.org/drawingml/2006/main"/>
        </p:blipFill>
        <p:spPr>
          <a:xfrm xmlns:a="http://schemas.openxmlformats.org/drawingml/2006/main">
            <a:off x="1504950" y="334327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9aff065b4a4ce8"/>
          <a:stretch xmlns:a="http://schemas.openxmlformats.org/drawingml/2006/main"/>
        </p:blipFill>
        <p:spPr>
          <a:xfrm xmlns:a="http://schemas.openxmlformats.org/drawingml/2006/main">
            <a:off x="2171700" y="334327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51fe7a312345e0"/>
          <a:stretch xmlns:a="http://schemas.openxmlformats.org/drawingml/2006/main"/>
        </p:blipFill>
        <p:spPr>
          <a:xfrm xmlns:a="http://schemas.openxmlformats.org/drawingml/2006/main">
            <a:off x="2838450" y="334327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8c673b8bc24157"/>
          <a:stretch xmlns:a="http://schemas.openxmlformats.org/drawingml/2006/main"/>
        </p:blipFill>
        <p:spPr>
          <a:xfrm xmlns:a="http://schemas.openxmlformats.org/drawingml/2006/main">
            <a:off x="3505200" y="334327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1d675d4f4b407c"/>
          <a:stretch xmlns:a="http://schemas.openxmlformats.org/drawingml/2006/main"/>
        </p:blipFill>
        <p:spPr>
          <a:xfrm xmlns:a="http://schemas.openxmlformats.org/drawingml/2006/main">
            <a:off x="4171950" y="334327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9e1cfb2ee64a40"/>
          <a:stretch xmlns:a="http://schemas.openxmlformats.org/drawingml/2006/main"/>
        </p:blipFill>
        <p:spPr>
          <a:xfrm xmlns:a="http://schemas.openxmlformats.org/drawingml/2006/main">
            <a:off x="4838700" y="33432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C7FFEB-D265-47B6-BADB-25A7FD1D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48025"/>
            <a:ext cx="21336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20814">
              <a:alpha val="86667"/>
            </a:srgbClr>
          </a:solidFill>
          <a:ln xmlns:a="http://schemas.openxmlformats.org/drawingml/2006/main" w="0">
            <a:solidFill>
              <a:srgbClr val="020814">
                <a:alpha val="86667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F2599C-E5EC-4B0D-A18B-3AECFF38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4327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Symbol monogram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F2E20F-57FE-48E4-9B97-76FDAB73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71875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A measured repeat for covers, proposal backs and dividers.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67A151-4944-42AE-B813-62A32BD7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24375"/>
            <a:ext cx="638175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0F5F3C"/>
          </a:solidFill>
          <a:ln xmlns:a="http://schemas.openxmlformats.org/drawingml/2006/main" w="0">
            <a:solidFill>
              <a:srgbClr val="0F5F3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A8871F-5BE4-497F-B157-99C1BF5A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5250" y="4676775"/>
            <a:ext cx="3619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0">
            <a:solidFill>
              <a:srgbClr val="FFFFFF">
                <a:alpha val="13333"/>
              </a:srgbClr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1d3061c2fc40ae"/>
          <a:stretch xmlns:a="http://schemas.openxmlformats.org/drawingml/2006/main"/>
        </p:blipFill>
        <p:spPr>
          <a:xfrm xmlns:a="http://schemas.openxmlformats.org/drawingml/2006/main">
            <a:off x="114300" y="5267325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957663-89EF-471E-9DB6-61E7389A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3619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0">
            <a:solidFill>
              <a:srgbClr val="FFFFFF">
                <a:alpha val="13333"/>
              </a:srgbClr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690b804f0a428e"/>
          <a:stretch xmlns:a="http://schemas.openxmlformats.org/drawingml/2006/main"/>
        </p:blipFill>
        <p:spPr>
          <a:xfrm xmlns:a="http://schemas.openxmlformats.org/drawingml/2006/main">
            <a:off x="990600" y="5267325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E6DD73-0EBA-42C1-8374-8EF2ED0F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76775"/>
            <a:ext cx="3619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0">
            <a:solidFill>
              <a:srgbClr val="FFFFFF">
                <a:alpha val="13333"/>
              </a:srgbClr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2a3a5ab0c48b6"/>
          <a:stretch xmlns:a="http://schemas.openxmlformats.org/drawingml/2006/main"/>
        </p:blipFill>
        <p:spPr>
          <a:xfrm xmlns:a="http://schemas.openxmlformats.org/drawingml/2006/main">
            <a:off x="1866900" y="5267325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F95B15-E854-42CF-A481-3E939472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676775"/>
            <a:ext cx="3619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0">
            <a:solidFill>
              <a:srgbClr val="FFFFFF">
                <a:alpha val="13333"/>
              </a:srgbClr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26de5f7a7c474e"/>
          <a:stretch xmlns:a="http://schemas.openxmlformats.org/drawingml/2006/main"/>
        </p:blipFill>
        <p:spPr>
          <a:xfrm xmlns:a="http://schemas.openxmlformats.org/drawingml/2006/main">
            <a:off x="2743200" y="5267325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1BE8B4-3E02-431C-9EBB-E919625B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676775"/>
            <a:ext cx="3619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0">
            <a:solidFill>
              <a:srgbClr val="FFFFFF">
                <a:alpha val="13333"/>
              </a:srgbClr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9e572ade4b4e70"/>
          <a:stretch xmlns:a="http://schemas.openxmlformats.org/drawingml/2006/main"/>
        </p:blipFill>
        <p:spPr>
          <a:xfrm xmlns:a="http://schemas.openxmlformats.org/drawingml/2006/main">
            <a:off x="3619500" y="5267325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04493AC-1DF6-416E-B300-1264983B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76775"/>
            <a:ext cx="3619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0">
            <a:solidFill>
              <a:srgbClr val="FFFFFF">
                <a:alpha val="13333"/>
              </a:srgbClr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27ab316e434407"/>
          <a:stretch xmlns:a="http://schemas.openxmlformats.org/drawingml/2006/main"/>
        </p:blipFill>
        <p:spPr>
          <a:xfrm xmlns:a="http://schemas.openxmlformats.org/drawingml/2006/main">
            <a:off x="4495800" y="5267325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D7FD82B-1AC3-47D2-B026-BF08F50D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676775"/>
            <a:ext cx="3619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0">
            <a:solidFill>
              <a:srgbClr val="FFFFFF">
                <a:alpha val="13333"/>
              </a:srgbClr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b8a917d6c94c45"/>
          <a:stretch xmlns:a="http://schemas.openxmlformats.org/drawingml/2006/main"/>
        </p:blipFill>
        <p:spPr>
          <a:xfrm xmlns:a="http://schemas.openxmlformats.org/drawingml/2006/main">
            <a:off x="5372100" y="5267325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621B197-4A49-48D2-821A-56600835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676775"/>
            <a:ext cx="3619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0">
            <a:solidFill>
              <a:srgbClr val="FFFFFF">
                <a:alpha val="13333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44f6103c644cb8"/>
          <a:stretch xmlns:a="http://schemas.openxmlformats.org/drawingml/2006/main"/>
        </p:blipFill>
        <p:spPr>
          <a:xfrm xmlns:a="http://schemas.openxmlformats.org/drawingml/2006/main">
            <a:off x="6248400" y="5267325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45D248C-C180-4681-ABA7-D6393ACB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819775"/>
            <a:ext cx="21336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20814">
              <a:alpha val="86667"/>
            </a:srgbClr>
          </a:solidFill>
          <a:ln xmlns:a="http://schemas.openxmlformats.org/drawingml/2006/main" w="0">
            <a:solidFill>
              <a:srgbClr val="020814">
                <a:alpha val="86667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2F5C59B-224F-4E40-BD02-56749D52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91502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Diagonal elevation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D1C768B-DF00-4EA4-9EF8-7F18BB9A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143625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Upward movement for campaign and social applications.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5045E5E-FA3F-46ED-AD8B-2B72A21A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096125"/>
            <a:ext cx="638175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061326"/>
          </a:solidFill>
          <a:ln xmlns:a="http://schemas.openxmlformats.org/drawingml/2006/main" w="0">
            <a:solidFill>
              <a:srgbClr val="06132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0985A7E-A5BF-4494-95EA-0DBA2CBC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267575"/>
            <a:ext cx="190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>
              <a:alpha val="20000"/>
            </a:srgbClr>
          </a:solidFill>
          <a:ln xmlns:a="http://schemas.openxmlformats.org/drawingml/2006/main" w="0">
            <a:solidFill>
              <a:srgbClr val="D8D8D4">
                <a:alpha val="2000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FE0F32F-5DCA-4E1C-A31B-B96CF748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7267575"/>
            <a:ext cx="190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>
              <a:alpha val="20000"/>
            </a:srgbClr>
          </a:solidFill>
          <a:ln xmlns:a="http://schemas.openxmlformats.org/drawingml/2006/main" w="0">
            <a:solidFill>
              <a:srgbClr val="D8D8D4">
                <a:alpha val="2000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FD20A56-9D6C-485A-8707-F21EB040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7267575"/>
            <a:ext cx="190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>
              <a:alpha val="20000"/>
            </a:srgbClr>
          </a:solidFill>
          <a:ln xmlns:a="http://schemas.openxmlformats.org/drawingml/2006/main" w="0">
            <a:solidFill>
              <a:srgbClr val="D8D8D4">
                <a:alpha val="2000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CA49537-FCCC-4B70-AFA2-1B046DB0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267575"/>
            <a:ext cx="190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>
              <a:alpha val="20000"/>
            </a:srgbClr>
          </a:solidFill>
          <a:ln xmlns:a="http://schemas.openxmlformats.org/drawingml/2006/main" w="0">
            <a:solidFill>
              <a:srgbClr val="D8D8D4">
                <a:alpha val="2000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C68AAA4-AA5D-49C3-B0A0-8EF6D77D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7267575"/>
            <a:ext cx="190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>
              <a:alpha val="20000"/>
            </a:srgbClr>
          </a:solidFill>
          <a:ln xmlns:a="http://schemas.openxmlformats.org/drawingml/2006/main" w="0">
            <a:solidFill>
              <a:srgbClr val="D8D8D4">
                <a:alpha val="2000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B3D30B5-CAA7-46CB-AFB2-CFF540CC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7267575"/>
            <a:ext cx="190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>
              <a:alpha val="20000"/>
            </a:srgbClr>
          </a:solidFill>
          <a:ln xmlns:a="http://schemas.openxmlformats.org/drawingml/2006/main" w="0">
            <a:solidFill>
              <a:srgbClr val="D8D8D4">
                <a:alpha val="2000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B839339-86AC-4491-B3D1-CE28722D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7267575"/>
            <a:ext cx="190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>
              <a:alpha val="20000"/>
            </a:srgbClr>
          </a:solidFill>
          <a:ln xmlns:a="http://schemas.openxmlformats.org/drawingml/2006/main" w="0">
            <a:solidFill>
              <a:srgbClr val="D8D8D4">
                <a:alpha val="2000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490FBFA-F5B5-4F9B-A237-EA23EA30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7267575"/>
            <a:ext cx="190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>
              <a:alpha val="20000"/>
            </a:srgbClr>
          </a:solidFill>
          <a:ln xmlns:a="http://schemas.openxmlformats.org/drawingml/2006/main" w="0">
            <a:solidFill>
              <a:srgbClr val="D8D8D4">
                <a:alpha val="2000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8D80D19-619C-4C51-A551-340758B9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419975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>
              <a:alpha val="13333"/>
            </a:srgbClr>
          </a:solidFill>
          <a:ln xmlns:a="http://schemas.openxmlformats.org/drawingml/2006/main" w="0">
            <a:solidFill>
              <a:srgbClr val="D8D8D4">
                <a:alpha val="13333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18D8598-5A15-4BA6-99FE-F7086CA5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877175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>
              <a:alpha val="13333"/>
            </a:srgbClr>
          </a:solidFill>
          <a:ln xmlns:a="http://schemas.openxmlformats.org/drawingml/2006/main" w="0">
            <a:solidFill>
              <a:srgbClr val="D8D8D4">
                <a:alpha val="13333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898A731-C0A2-4274-8BFE-D679C555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34375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>
              <a:alpha val="13333"/>
            </a:srgbClr>
          </a:solidFill>
          <a:ln xmlns:a="http://schemas.openxmlformats.org/drawingml/2006/main" w="0">
            <a:solidFill>
              <a:srgbClr val="D8D8D4">
                <a:alpha val="13333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742CE5F-0415-40AC-B1E9-A84FDB48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791575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4">
              <a:alpha val="13333"/>
            </a:srgbClr>
          </a:solidFill>
          <a:ln xmlns:a="http://schemas.openxmlformats.org/drawingml/2006/main" w="0">
            <a:solidFill>
              <a:srgbClr val="D8D8D4">
                <a:alpha val="13333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2556DDC-6336-4231-974E-6F7D4C67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7267575"/>
            <a:ext cx="1143000" cy="1809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68A55">
              <a:alpha val="13333"/>
            </a:srgbClr>
          </a:solidFill>
          <a:ln xmlns:a="http://schemas.openxmlformats.org/drawingml/2006/main" w="0">
            <a:solidFill>
              <a:srgbClr val="168A55">
                <a:alpha val="13333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1BA1A00-54C3-47FF-BC0A-C4B1F878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8391525"/>
            <a:ext cx="21336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20814">
              <a:alpha val="86667"/>
            </a:srgbClr>
          </a:solidFill>
          <a:ln xmlns:a="http://schemas.openxmlformats.org/drawingml/2006/main" w="0">
            <a:solidFill>
              <a:srgbClr val="020814">
                <a:alpha val="86667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359A972-9F24-4B16-97CF-3185ABC1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48677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Architectural shaft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4217EEF-2081-46C0-A9D3-270D6B08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15375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Technical linework for quotations, profiles and specifications.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8D9E8BE-F0E3-4837-9D81-6D2716D2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0201275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A8ADB3"/>
                </a:solidFill>
                <a:latin typeface="Montserrat"/>
                <a:ea typeface="Montserrat"/>
                <a:cs typeface="Montserrat"/>
              </a:defRPr>
            </a:pPr>
            <a:r>
              <a:t>09 / 16</a:t>
            </a:r>
          </a:p>
        </p:txBody>
      </p:sp>
    </p:spTree>
    <p:extLst>
      <p:ext uri="{BB962C8B-B14F-4D97-AF65-F5344CB8AC3E}">
        <p14:creationId xmlns:p14="http://schemas.microsoft.com/office/powerpoint/2010/main" val="14943675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208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21D8F9-C6DB-4161-A771-8CDA0774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PHOTOGRAPHY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8D2346-2409-4DB9-BA80-6EB798B0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638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172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Architecture first. People only with purpose.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0F12C3-3A8C-4042-80E4-F96AB519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a8aa8f893f4393"/>
          <a:srcRect xmlns:a="http://schemas.openxmlformats.org/drawingml/2006/main" l="10185" t="0" r="101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952625"/>
            <a:ext cx="4095750" cy="3429000"/>
          </a:xfrm>
          <a:prstGeom xmlns:a="http://schemas.openxmlformats.org/drawingml/2006/main" prst="rect">
            <a:avLst/>
          </a:prstGeom>
        </p:spPr>
      </p:pic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86b139b2874959"/>
          <a:srcRect xmlns:a="http://schemas.openxmlformats.org/drawingml/2006/main" l="29630" t="0" r="296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76800" y="1952625"/>
            <a:ext cx="2095500" cy="3429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2CF742-C32D-4600-93A2-A7D551D0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6740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Preferred image qualities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A3005-2255-4DAE-B68C-CCD02F1B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1AB500-C5A6-4114-913F-D2437800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38900"/>
            <a:ext cx="619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Modern Nigerian residential, hospitality and commercial architecture.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FAE6B5-A3EE-4B20-9DF6-8E9EB06F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06755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8457F1-C297-414F-9762-C118A760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991350"/>
            <a:ext cx="619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Realistic lift integration, honest materials and clean vertical geometry.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9D33B9-A96E-44AB-AD80-E2A46803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62000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EEA480-7003-4EC3-96B4-86F93053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543800"/>
            <a:ext cx="619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Controlled lighting, neutral surfaces and restrained emerald moments.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CE28C9-14ED-40E3-AAC6-92E8A48D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7245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A17A2A-199D-4D59-8BAB-B2F0E267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96250"/>
            <a:ext cx="619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Negative space that allows official typography and logos to remain clear.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1ADD0B-39EC-4A9A-970C-8F29E773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067800"/>
            <a:ext cx="638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A8ADB3"/>
                </a:solidFill>
                <a:latin typeface="Inter"/>
                <a:ea typeface="Inter"/>
                <a:cs typeface="Inter"/>
              </a:defRPr>
            </a:pPr>
            <a:r>
              <a:t>Avoid: synthetic text, invented control panels, fake brand marks, exaggerated chrome and visibly impossible interiors.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7E4573-2973-4A77-BD05-D3051D8F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0201275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C9C7BF"/>
                </a:solidFill>
                <a:latin typeface="Montserrat"/>
                <a:ea typeface="Montserrat"/>
                <a:cs typeface="Montserrat"/>
              </a:defRPr>
            </a:pPr>
            <a:r>
              <a:t>10 / 16</a:t>
            </a:r>
          </a:p>
        </p:txBody>
      </p:sp>
    </p:spTree>
    <p:extLst>
      <p:ext uri="{BB962C8B-B14F-4D97-AF65-F5344CB8AC3E}">
        <p14:creationId xmlns:p14="http://schemas.microsoft.com/office/powerpoint/2010/main" val="6018404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FC4D79-778D-413C-A5AB-2D86746C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F5F3C"/>
                </a:solidFill>
                <a:latin typeface="Montserrat"/>
                <a:ea typeface="Montserrat"/>
                <a:cs typeface="Montserrat"/>
              </a:defRPr>
            </a:pPr>
            <a:r>
              <a:t>TEMPLATES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9A25E4-1295-4F3C-BFFA-5A2E406F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638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072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A coherent system across every touchpoint.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AECC3-CD00-4D2B-802D-4E1D139D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850A1A-2C53-4230-9B94-972D9975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304800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0">
            <a:solidFill>
              <a:srgbClr val="F3F5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23B89C-0D37-4348-91F7-87119A19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9D3123-2202-4C87-AF6B-23C02406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2628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Business card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66A2A6-8750-49AE-8E56-4774A9DC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2628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Dark and light, front and back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6B1BA8-94C8-4530-8F51-33778D7B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24050"/>
            <a:ext cx="304800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0">
            <a:solidFill>
              <a:srgbClr val="F3F5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E75D63-399B-4940-81C0-B241CC7C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9550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A7353F-C214-4D96-AFAF-036E472C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19350"/>
            <a:ext cx="2628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Letterhead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ABD400-7617-4DBE-BAC7-81643965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14650"/>
            <a:ext cx="2628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A4 editable Word template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6C536B-0D33-4990-ADAC-0C4486A1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14750"/>
            <a:ext cx="304800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0">
            <a:solidFill>
              <a:srgbClr val="F3F5F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8C2811-32F2-4E13-89FC-0D9975F1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592F8F-B2F5-43AC-B650-D4A207B8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2628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Quotation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166DBE-9740-48DA-9E10-5357BEAB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05350"/>
            <a:ext cx="2628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Six-page commercial proposal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50229D-81B7-46B7-A013-183360E4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14750"/>
            <a:ext cx="304800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61326"/>
          </a:solidFill>
          <a:ln xmlns:a="http://schemas.openxmlformats.org/drawingml/2006/main" w="0">
            <a:solidFill>
              <a:srgbClr val="0613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C18C6C-5F0D-4D37-82B9-C8C1E2D4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88620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831AD3-B860-4C7F-A53C-1C65ED67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210050"/>
            <a:ext cx="2628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Company profile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390D2B-1DE0-4784-A251-991C2498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05350"/>
            <a:ext cx="2628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Eight-page presentation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776BD5-4704-4C29-9857-9224AFD7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05450"/>
            <a:ext cx="304800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0">
            <a:solidFill>
              <a:srgbClr val="F3F5F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95F7F0-756A-4090-9AA9-8562A64A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7690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6E60DB-DECD-41FB-B5BE-FE718F2B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00750"/>
            <a:ext cx="2628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Email signature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C222BE-A3C1-424D-9A82-64367BF8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96050"/>
            <a:ext cx="2628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Compact HTML-friendly design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E7D42F-07AB-4F1F-A15A-A882BB9A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505450"/>
            <a:ext cx="304800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0">
            <a:solidFill>
              <a:srgbClr val="F3F5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B4A1AD-1A12-4C79-A60E-436569A4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67690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1AB3FB-62AD-4CE7-8438-B3807A3B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000750"/>
            <a:ext cx="2628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Social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77CEC9-2545-45B4-9763-3F3DB602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496050"/>
            <a:ext cx="2628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Square service graphic and profile icon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680D2A-2181-4F41-99FC-7DBC264A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96150"/>
            <a:ext cx="304800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0">
            <a:solidFill>
              <a:srgbClr val="F3F5F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596060-7DA5-4027-8E91-D88E159A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46760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07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607A38-7787-4028-81EB-AFD5BBE3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791450"/>
            <a:ext cx="2628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Cabin plate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8EB732-F2F0-4556-92F4-B8CD422E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286750"/>
            <a:ext cx="2628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Durable, high-contrast signage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A508AA-A918-4796-A864-3DED293D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7296150"/>
            <a:ext cx="304800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0">
            <a:solidFill>
              <a:srgbClr val="F3F5F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9FA5F8-05ED-4A6F-9325-7C58CAD8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46760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08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13C40C-E1D7-4112-B8FE-7336BFDD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791450"/>
            <a:ext cx="2628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Patterns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FA840B-D438-4635-8CC5-A53A30C4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8286750"/>
            <a:ext cx="2628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Vector and raster background system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FC2064-D7BA-49ED-9629-87C1002E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429750"/>
            <a:ext cx="638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A8ADB3"/>
                </a:solidFill>
                <a:latin typeface="Inter"/>
                <a:ea typeface="Inter"/>
                <a:cs typeface="Inter"/>
              </a:defRPr>
            </a:pPr>
            <a:r>
              <a:t>Templates use consistent sample details registered under the reserved .example domain. Replace before publication.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5419F9-8D3F-46F8-881C-58A24007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0201275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A8ADB3"/>
                </a:solidFill>
                <a:latin typeface="Montserrat"/>
                <a:ea typeface="Montserrat"/>
                <a:cs typeface="Montserrat"/>
              </a:defRPr>
            </a:pPr>
            <a:r>
              <a:t>11 / 16</a:t>
            </a:r>
          </a:p>
        </p:txBody>
      </p:sp>
    </p:spTree>
    <p:extLst>
      <p:ext uri="{BB962C8B-B14F-4D97-AF65-F5344CB8AC3E}">
        <p14:creationId xmlns:p14="http://schemas.microsoft.com/office/powerpoint/2010/main" val="11486175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CE9089-88E3-48C3-B716-99ACA6CB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F5F3C"/>
                </a:solidFill>
                <a:latin typeface="Montserrat"/>
                <a:ea typeface="Montserrat"/>
                <a:cs typeface="Montserrat"/>
              </a:defRPr>
            </a:pPr>
            <a:r>
              <a:t>SOCIAL &amp; DIGITAL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0B067E-733F-4628-8E6A-86A79D7A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638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Recognizable at a glance.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BA2B3-F755-450E-86F5-D4020CE4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25A26D-04BE-499F-B045-09A9281D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4000500" cy="4000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061326"/>
          </a:solidFill>
          <a:ln xmlns:a="http://schemas.openxmlformats.org/drawingml/2006/main" w="0">
            <a:solidFill>
              <a:srgbClr val="061326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f8510b459e49d8"/>
          <a:srcRect xmlns:a="http://schemas.openxmlformats.org/drawingml/2006/main" l="16667" t="0" r="166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952625"/>
            <a:ext cx="4000500" cy="4000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4E7728-A572-49FB-A4EA-2C2BBEEA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4000500" cy="4000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020814">
              <a:alpha val="72157"/>
            </a:srgbClr>
          </a:solidFill>
          <a:ln xmlns:a="http://schemas.openxmlformats.org/drawingml/2006/main" w="0">
            <a:solidFill>
              <a:srgbClr val="020814">
                <a:alpha val="72157"/>
              </a:srgbClr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79f89b208849b4"/>
          <a:stretch xmlns:a="http://schemas.openxmlformats.org/drawingml/2006/main"/>
        </p:blipFill>
        <p:spPr>
          <a:xfrm xmlns:a="http://schemas.openxmlformats.org/drawingml/2006/main">
            <a:off x="990600" y="2247900"/>
            <a:ext cx="1809750" cy="571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BF938E-7873-4474-B866-896BA64C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Premium Lift Solutions</a:t>
            </a:r>
          </a:p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for Nigerian Buildings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F45EEE-DCBD-4B06-844E-FF9CCFCA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8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SUPPLY  •  INSTALLATION  •  MAINTENANCE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A5A4F0-C587-4043-AA36-BD53A08A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52625"/>
            <a:ext cx="1924050" cy="1924050"/>
          </a:xfrm>
          <a:prstGeom xmlns:a="http://schemas.openxmlformats.org/drawingml/2006/main" prst="roundRect">
            <a:avLst>
              <a:gd name="adj" fmla="val 12871"/>
            </a:avLst>
          </a:prstGeom>
          <a:solidFill xmlns:a="http://schemas.openxmlformats.org/drawingml/2006/main">
            <a:srgbClr val="061326"/>
          </a:solidFill>
          <a:ln xmlns:a="http://schemas.openxmlformats.org/drawingml/2006/main" w="0">
            <a:solidFill>
              <a:srgbClr val="061326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f16c068ac14728"/>
          <a:stretch xmlns:a="http://schemas.openxmlformats.org/drawingml/2006/main"/>
        </p:blipFill>
        <p:spPr>
          <a:xfrm xmlns:a="http://schemas.openxmlformats.org/drawingml/2006/main">
            <a:off x="5467350" y="2371725"/>
            <a:ext cx="1085850" cy="10858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B915A4-F48D-4036-898E-AECB4E44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48125"/>
            <a:ext cx="1924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A8ADB3"/>
                </a:solidFill>
                <a:latin typeface="Montserrat"/>
                <a:ea typeface="Montserrat"/>
                <a:cs typeface="Montserrat"/>
              </a:defRPr>
            </a:pPr>
            <a:r>
              <a:t>Profile icon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8F2E3C-8988-4055-86FC-60E56069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4845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D27A3F-5217-43DE-8C3B-1B4B6D6B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72250"/>
            <a:ext cx="619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Keep mobile headlines below 12 words.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CA1EF9-C49F-446B-85F3-AD5F3C96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0090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6C90A0-3A52-49B8-A177-528DF2E5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124700"/>
            <a:ext cx="619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Use no-slogan logos when the lockup is small.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26CA4C-143A-46BC-B9E5-129BF67F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5335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E6A268-CD3B-431C-B51A-33D95C6F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677150"/>
            <a:ext cx="619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Keep calls to action direct: Request a site review.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A468EC-891C-40D3-A33A-2AF1174E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05800"/>
            <a:ext cx="57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6C28B8-FF04-485D-834E-791F0710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229600"/>
            <a:ext cx="619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Use emerald for actions and service emphasis, not full backgrounds.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59145F-FD87-44DB-8519-B24B103E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0201275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A8ADB3"/>
                </a:solidFill>
                <a:latin typeface="Montserrat"/>
                <a:ea typeface="Montserrat"/>
                <a:cs typeface="Montserrat"/>
              </a:defRPr>
            </a:pPr>
            <a:r>
              <a:t>12 / 16</a:t>
            </a:r>
          </a:p>
        </p:txBody>
      </p:sp>
    </p:spTree>
    <p:extLst>
      <p:ext uri="{BB962C8B-B14F-4D97-AF65-F5344CB8AC3E}">
        <p14:creationId xmlns:p14="http://schemas.microsoft.com/office/powerpoint/2010/main" val="19418529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0B3B95-4500-4D4E-9E84-14D107BF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F5F3C"/>
                </a:solidFill>
                <a:latin typeface="Montserrat"/>
                <a:ea typeface="Montserrat"/>
                <a:cs typeface="Montserrat"/>
              </a:defRPr>
            </a:pPr>
            <a:r>
              <a:t>PRINT USAGE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798333-2ECD-44E5-A756-91CBA1C9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638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Quiet precision reproduces as premium.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7A243B-68C5-4088-B070-79A0DF7F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870ed725764b68"/>
          <a:stretch xmlns:a="http://schemas.openxmlformats.org/drawingml/2006/main"/>
        </p:blipFill>
        <p:spPr>
          <a:xfrm xmlns:a="http://schemas.openxmlformats.org/drawingml/2006/main">
            <a:off x="711200" y="1924050"/>
            <a:ext cx="2235200" cy="8382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028B9-BE39-4BE2-9E8C-582E9145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57550"/>
            <a:ext cx="30480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0">
            <a:solidFill>
              <a:srgbClr val="F3F5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9FEE4F-A779-491E-9F6B-D1E8E1F4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2628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Paper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548A42-A5F9-4C78-9053-586A497D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81450"/>
            <a:ext cx="2628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Uncoated premium white or warm-white stock. Avoid highly glossy paper for corporate documents.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4FE28E-C466-47A0-ABFC-0B925BBF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257550"/>
            <a:ext cx="30480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0">
            <a:solidFill>
              <a:srgbClr val="F3F5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285E8B-9220-4AAE-93F8-3952146C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86150"/>
            <a:ext cx="2628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Colour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6D2F66-5D5D-4305-B686-72CBE473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981450"/>
            <a:ext cx="2628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Use CMYK builds as production starting points and approve proofs before long runs.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150973-85F8-41B8-A1E5-CE9AB506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0175"/>
            <a:ext cx="30480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0">
            <a:solidFill>
              <a:srgbClr val="F3F5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EA6017-7B38-4108-833B-9AA7A65D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38775"/>
            <a:ext cx="2628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Finishing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EB1E62-858A-4751-A6D1-A9AC8872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34075"/>
            <a:ext cx="2628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Blind deboss, restrained silver foil or spot varnish may be used selectively.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549852-FE6E-470C-BCD4-11B50061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210175"/>
            <a:ext cx="30480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0">
            <a:solidFill>
              <a:srgbClr val="F3F5F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A1DC5F-993C-4624-B17D-09E0398D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438775"/>
            <a:ext cx="2628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Signage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8F9C60-B016-4132-AC46-2C9F2386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934075"/>
            <a:ext cx="2628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Prioritize contrast, durability and legibility over decorative surface effects.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34EE80-4026-487A-821E-4CBC3CBC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162800"/>
            <a:ext cx="30480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0">
            <a:solidFill>
              <a:srgbClr val="F3F5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9F39AD-7692-406D-BD3B-49FF49B3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391400"/>
            <a:ext cx="2628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Bleed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3E5D93-CD93-420E-A18D-1C35C1B9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86700"/>
            <a:ext cx="2628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Business cards and full-bleed print pieces use 3 mm bleed with a 5 mm safe area.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14C733-E871-4FE1-8A00-45293BDD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7162800"/>
            <a:ext cx="30480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0">
            <a:solidFill>
              <a:srgbClr val="F3F5F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E01916-3533-4E5B-BB59-E8309839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391400"/>
            <a:ext cx="2628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Logo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CA9A93-A475-4D87-85D1-9A804F4E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886700"/>
            <a:ext cx="2628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Prefer supplied SVG or PDF artwork for print. Do not upscale low-resolution PNGs.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4C43D6-6C70-430D-B38F-547542CD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0201275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A8ADB3"/>
                </a:solidFill>
                <a:latin typeface="Montserrat"/>
                <a:ea typeface="Montserrat"/>
                <a:cs typeface="Montserrat"/>
              </a:defRPr>
            </a:pPr>
            <a:r>
              <a:t>13 / 16</a:t>
            </a:r>
          </a:p>
        </p:txBody>
      </p:sp>
    </p:spTree>
    <p:extLst>
      <p:ext uri="{BB962C8B-B14F-4D97-AF65-F5344CB8AC3E}">
        <p14:creationId xmlns:p14="http://schemas.microsoft.com/office/powerpoint/2010/main" val="87948749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613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9DF85B-CD6F-47F5-888E-C3183470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EXPORT FORMATS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621EAF-72FA-4802-96A7-B4C54178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638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Choose the right file for the job.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7D9F13-82EF-4F87-8B4C-46576481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83A665-035B-44C7-81DB-D636CE4C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304800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0F5F3C"/>
          </a:solidFill>
          <a:ln xmlns:a="http://schemas.openxmlformats.org/drawingml/2006/main" w="0">
            <a:solidFill>
              <a:srgbClr val="0F5F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033204-A072-4DA0-9336-905B9665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24075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VECTOR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1281EA-FB52-4679-8BE9-E0BC8881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47925"/>
            <a:ext cx="2628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SVG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161370-368E-474E-AE0D-61A3042E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43225"/>
            <a:ext cx="2628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Preferred for scalable logos, patterns and digital production.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4452FC-3248-4F84-ADCE-A368F172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52625"/>
            <a:ext cx="304800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0D1D32"/>
          </a:solidFill>
          <a:ln xmlns:a="http://schemas.openxmlformats.org/drawingml/2006/main" w="0">
            <a:solidFill>
              <a:srgbClr val="0D1D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3FC740-A0E2-4F39-AC69-C76AF3FD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24075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PRINT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2EEFBC-0981-4664-B215-4AB9BCA7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47925"/>
            <a:ext cx="2628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PDF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B1FD9D-9911-4C65-B20D-34EAD033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43225"/>
            <a:ext cx="2628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Print-ready guides, proposals, profiles and shareable masters.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958FEA-F2EA-4BBE-8AF8-36FDDB2E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304800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0D1D32"/>
          </a:solidFill>
          <a:ln xmlns:a="http://schemas.openxmlformats.org/drawingml/2006/main" w="0">
            <a:solidFill>
              <a:srgbClr val="0D1D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2BD520-B9F9-4380-8751-75C830B9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DIGITAL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26A83F-600A-4CAC-81AE-1F5794EE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38675"/>
            <a:ext cx="2628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PNG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65B707-3519-461E-8B54-B69F2882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33975"/>
            <a:ext cx="2628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Transparent logos and sharp digital graphics.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C5820F-3DCA-4D8E-B5F9-DD3861FD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43375"/>
            <a:ext cx="304800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0D1D32"/>
          </a:solidFill>
          <a:ln xmlns:a="http://schemas.openxmlformats.org/drawingml/2006/main" w="0">
            <a:solidFill>
              <a:srgbClr val="0D1D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455FA0-FD28-4ED2-AEC0-07042771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314825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PHOTO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311656-70B1-42FE-8E02-82F15006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638675"/>
            <a:ext cx="2628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JPG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F6123C-7CB4-4C9E-80DD-9C7C18CC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33975"/>
            <a:ext cx="2628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High-quality photographic previews where transparency is unnecessary.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37AA0C-E475-44F2-BDF7-941BB5A3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304800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0D1D32"/>
          </a:solidFill>
          <a:ln xmlns:a="http://schemas.openxmlformats.org/drawingml/2006/main" w="0">
            <a:solidFill>
              <a:srgbClr val="0D1D3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462CB6-7F4B-42DB-810A-3502640C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EDIT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0D014E-0BE7-4D2E-B14C-81AEEC93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29425"/>
            <a:ext cx="2628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PPTX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95E4CC-104D-4516-B23F-E4EC0A04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324725"/>
            <a:ext cx="2628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Editable presentation and designed layout masters.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C06062-FBDE-4B3C-9E66-BE07D740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6334125"/>
            <a:ext cx="304800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0D1D32"/>
          </a:solidFill>
          <a:ln xmlns:a="http://schemas.openxmlformats.org/drawingml/2006/main" w="0">
            <a:solidFill>
              <a:srgbClr val="0D1D3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22C7F4-7833-404C-B4E8-44465F9C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505575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EDIT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0A7C3C-8A86-48A5-A9C5-3FC409A4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829425"/>
            <a:ext cx="2628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DOCX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80C6A5-F774-4F56-AEA4-50979C09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324725"/>
            <a:ext cx="2628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Editable operational documents and client proposals.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404CCD-EF65-4E2A-858C-188DAEEC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91600"/>
            <a:ext cx="638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A8ADB3"/>
                </a:solidFill>
                <a:latin typeface="Inter"/>
                <a:ea typeface="Inter"/>
                <a:cs typeface="Inter"/>
              </a:defRPr>
            </a:pPr>
            <a:r>
              <a:t>For production print, confirm bleed, colour profile, stock and finishing with the selected vendor.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35E51B-7EE8-4AE9-8D21-9C2B3E7D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0201275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C9C7BF"/>
                </a:solidFill>
                <a:latin typeface="Montserrat"/>
                <a:ea typeface="Montserrat"/>
                <a:cs typeface="Montserrat"/>
              </a:defRPr>
            </a:pPr>
            <a:r>
              <a:t>14 / 16</a:t>
            </a:r>
          </a:p>
        </p:txBody>
      </p:sp>
    </p:spTree>
    <p:extLst>
      <p:ext uri="{BB962C8B-B14F-4D97-AF65-F5344CB8AC3E}">
        <p14:creationId xmlns:p14="http://schemas.microsoft.com/office/powerpoint/2010/main" val="98375602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4265E4-6E31-487C-9EC4-7E71B633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F5F3C"/>
                </a:solidFill>
                <a:latin typeface="Montserrat"/>
                <a:ea typeface="Montserrat"/>
                <a:cs typeface="Montserrat"/>
              </a:defRPr>
            </a:pPr>
            <a:r>
              <a:t>FILE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6A16C-8595-4D07-975D-6754F977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638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Organized for real-world use.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EC7989-B109-410B-8AEA-BE87EFC1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1BEDD-BDAD-48B5-A18E-046F1004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6381750" cy="971550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061326"/>
          </a:solidFill>
          <a:ln xmlns:a="http://schemas.openxmlformats.org/drawingml/2006/main" w="0">
            <a:solidFill>
              <a:srgbClr val="06132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0456DB-1956-4F1F-8343-CB281EDA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01-Logo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5E3DAB-118C-456F-8564-93570716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71700"/>
            <a:ext cx="3981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Official supplied marks in PNG, SVG and PDF.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C44946-7BE7-425D-B98C-F807BF41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6381750" cy="971550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84A9C3-0490-41D6-A780-C33AF1C3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02-Colours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53BFBC-AF59-4024-9498-5A804D81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71850"/>
            <a:ext cx="3981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Five-page colour guide and page exports.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4BFB7A-A2C2-4DC6-9FF8-9BD8AD88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43400"/>
            <a:ext cx="6381750" cy="971550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F9D5CD-7797-4641-9D54-5BF5481E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529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03-Typography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910EFB-710D-4AA1-A1D8-B0FD46B5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572000"/>
            <a:ext cx="3981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Six-page type guide and editable master.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44DD1D-6AAF-437F-8E9F-AA0BD5BD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43550"/>
            <a:ext cx="6381750" cy="971550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3CA525-C19A-469F-A3BE-9D6CE7AE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531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04-Brand-Patterns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69071B-5BE7-47AF-9F50-660AB34E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772150"/>
            <a:ext cx="3981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Three identity-derived pattern families.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D5ABA1-AEE1-41EC-8434-49DA326F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743700"/>
            <a:ext cx="6381750" cy="971550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5DAE98-5D5A-4380-A97C-7CA73096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9532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05-Templates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4D6818-2C3A-4E4B-8F40-98CA9271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6972300"/>
            <a:ext cx="3981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Business, document, profile, email, social and signage masters.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13BBF9-6E2C-48B4-AC10-C04127A9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943850"/>
            <a:ext cx="6381750" cy="971550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4697C8-3A73-498E-8B03-5D96521F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534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61326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06-Exported-Assets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B5FF5D-CA90-4F5B-9701-53704EE1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8172450"/>
            <a:ext cx="3981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11418"/>
                </a:solidFill>
                <a:latin typeface="Inter"/>
                <a:ea typeface="Inter"/>
                <a:cs typeface="Inter"/>
              </a:defRPr>
            </a:pPr>
            <a:r>
              <a:t>Consolidated PDF, PNG, JPG and SVG delivery folders.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4B41D9-62F6-4960-9367-60F2D968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44050"/>
            <a:ext cx="638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A8ADB3"/>
                </a:solidFill>
                <a:latin typeface="Inter"/>
                <a:ea typeface="Inter"/>
                <a:cs typeface="Inter"/>
              </a:defRPr>
            </a:pPr>
            <a:r>
              <a:t>README.md and brand-kit-manifest.json describe the delivered package and are maintained as the index of record.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6FF72B-308B-4805-BE22-DABDE30E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0201275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A8ADB3"/>
                </a:solidFill>
                <a:latin typeface="Montserrat"/>
                <a:ea typeface="Montserrat"/>
                <a:cs typeface="Montserrat"/>
              </a:defRPr>
            </a:pPr>
            <a:r>
              <a:t>15 / 16</a:t>
            </a:r>
          </a:p>
        </p:txBody>
      </p:sp>
    </p:spTree>
    <p:extLst>
      <p:ext uri="{BB962C8B-B14F-4D97-AF65-F5344CB8AC3E}">
        <p14:creationId xmlns:p14="http://schemas.microsoft.com/office/powerpoint/2010/main" val="9205305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208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2e0985ef9248f1"/>
          <a:srcRect xmlns:a="http://schemas.openxmlformats.org/drawingml/2006/main" l="0" t="2855" r="0" b="28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71C1E2-6541-4C67-A66C-555E3541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814">
              <a:alpha val="84706"/>
            </a:srgbClr>
          </a:solidFill>
          <a:ln xmlns:a="http://schemas.openxmlformats.org/drawingml/2006/main" w="0">
            <a:solidFill>
              <a:srgbClr val="020814">
                <a:alpha val="84706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676f18243d4798"/>
          <a:stretch xmlns:a="http://schemas.openxmlformats.org/drawingml/2006/main"/>
        </p:blipFill>
        <p:spPr>
          <a:xfrm xmlns:a="http://schemas.openxmlformats.org/drawingml/2006/main">
            <a:off x="2543175" y="1190625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9B2843-E4B4-4ABC-830F-B1045A87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0"/>
            <a:ext cx="638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 i="0">
                <a:solidFill>
                  <a:srgbClr val="FFFFFF"/>
                </a:solidFill>
                <a:latin typeface="Cormorant Garamond"/>
                <a:ea typeface="Cormorant Garamond"/>
                <a:cs typeface="Cormorant Garamond"/>
              </a:defRPr>
            </a:pPr>
            <a:r>
              <a:t>Approval &amp; stewardship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226DAB-B1C6-44A9-9B92-E0130883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905500"/>
            <a:ext cx="5238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D8D8D4"/>
                </a:solidFill>
                <a:latin typeface="Inter"/>
                <a:ea typeface="Inter"/>
                <a:cs typeface="Inter"/>
              </a:defRPr>
            </a:pPr>
            <a:r>
              <a:t>Use official artwork. Protect clear space. Keep copy precise. Verify technical and commercial claims before publication.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387DD2-AAB0-453F-AA40-3F457211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7296150"/>
            <a:ext cx="971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55"/>
          </a:solidFill>
          <a:ln xmlns:a="http://schemas.openxmlformats.org/drawingml/2006/main" w="0">
            <a:solidFill>
              <a:srgbClr val="168A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5E4A67-3C11-434E-8181-4322AE3F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0"/>
            <a:ext cx="638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168A55"/>
                </a:solidFill>
                <a:latin typeface="Montserrat"/>
                <a:ea typeface="Montserrat"/>
                <a:cs typeface="Montserrat"/>
              </a:defRPr>
            </a:pPr>
            <a:r>
              <a:t>Brand enquiries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32E1C1-7E2C-4D37-AD59-5DA4D6E4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53400"/>
            <a:ext cx="638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t>brand@viplift.example  •  www.viplift.example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653437-7DDF-4730-9B1C-525C3AC8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91600"/>
            <a:ext cx="638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A8ADB3"/>
                </a:solidFill>
                <a:latin typeface="Inter"/>
                <a:ea typeface="Inter"/>
                <a:cs typeface="Inter"/>
              </a:defRPr>
            </a:pPr>
            <a:r>
              <a:t>Sample contact details are supplied for editing and must be replaced before public use.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249427-642A-445C-9FCD-F1BF8BC3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0201275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C9C7BF"/>
                </a:solidFill>
                <a:latin typeface="Montserrat"/>
                <a:ea typeface="Montserrat"/>
                <a:cs typeface="Montserrat"/>
              </a:defRPr>
            </a:pPr>
            <a:r>
              <a:t>16 / 16</a:t>
            </a:r>
          </a:p>
        </p:txBody>
      </p:sp>
    </p:spTree>
    <p:extLst>
      <p:ext uri="{BB962C8B-B14F-4D97-AF65-F5344CB8AC3E}">
        <p14:creationId xmlns:p14="http://schemas.microsoft.com/office/powerpoint/2010/main" val="13154475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2026-06-09T23:31:10.5400000Z</dcterms:created>
  <dcterms:modified xsi:type="dcterms:W3CDTF">2026-06-09T23:31:10.5410000Z</dcterms:modified>
</coreProperties>
</file>