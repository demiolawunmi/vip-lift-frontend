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7cb399d8d4ad1" /><Relationship Type="http://schemas.openxmlformats.org/officeDocument/2006/relationships/extended-properties" Target="/docProps/app.xml" Id="R36cb96c25b614ce3" /><Relationship Type="http://schemas.openxmlformats.org/officeDocument/2006/relationships/officeDocument" Target="/ppt/presentation.xml" Id="R490ec2d508a6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95387a5a74426f"/>
  </p:sldMasterIdLst>
  <p:notesMasterIdLst>
    <p:notesMasterId xmlns:r="http://schemas.openxmlformats.org/officeDocument/2006/relationships" r:id="R629aea65bca34186"/>
  </p:notesMasterIdLst>
  <p:sldIdLst>
    <p:sldId xmlns:r="http://schemas.openxmlformats.org/officeDocument/2006/relationships" id="256" r:id="Rf2ec675f749a45fc"/>
    <p:sldId xmlns:r="http://schemas.openxmlformats.org/officeDocument/2006/relationships" id="257" r:id="Rc1441b675a9c498b"/>
    <p:sldId xmlns:r="http://schemas.openxmlformats.org/officeDocument/2006/relationships" id="258" r:id="R78651da9d45c4e7b"/>
    <p:sldId xmlns:r="http://schemas.openxmlformats.org/officeDocument/2006/relationships" id="259" r:id="Re5b2798b42b34375"/>
    <p:sldId xmlns:r="http://schemas.openxmlformats.org/officeDocument/2006/relationships" id="260" r:id="R5b955427926445f1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4980110434b33" /><Relationship Type="http://schemas.openxmlformats.org/officeDocument/2006/relationships/slideMaster" Target="/ppt/slideMasters/slideMaster1.xml" Id="R5a95387a5a74426f" /><Relationship Type="http://schemas.openxmlformats.org/officeDocument/2006/relationships/notesMaster" Target="/ppt/notesMasters/notesMaster1.xml" Id="R629aea65bca34186" /><Relationship Type="http://schemas.openxmlformats.org/officeDocument/2006/relationships/presProps" Target="/ppt/presProps.xml" Id="Rff23012b4f724dff" /><Relationship Type="http://schemas.openxmlformats.org/officeDocument/2006/relationships/viewProps" Target="/ppt/viewProps.xml" Id="Rc9eaec2a16b44ba7" /><Relationship Type="http://schemas.openxmlformats.org/officeDocument/2006/relationships/tableStyles" Target="/ppt/tableStyles.xml" Id="Rd11ede388949404a" /><Relationship Type="http://schemas.openxmlformats.org/officeDocument/2006/relationships/slide" Target="/ppt/slides/slide1.xml" Id="Rf2ec675f749a45fc" /><Relationship Type="http://schemas.openxmlformats.org/officeDocument/2006/relationships/slide" Target="/ppt/slides/slide2.xml" Id="Rc1441b675a9c498b" /><Relationship Type="http://schemas.openxmlformats.org/officeDocument/2006/relationships/slide" Target="/ppt/slides/slide3.xml" Id="R78651da9d45c4e7b" /><Relationship Type="http://schemas.openxmlformats.org/officeDocument/2006/relationships/slide" Target="/ppt/slides/slide4.xml" Id="Re5b2798b42b34375" /><Relationship Type="http://schemas.openxmlformats.org/officeDocument/2006/relationships/slide" Target="/ppt/slides/slide5.xml" Id="R5b9554279264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9fa276fe0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7e48e77a6c418a" /><Relationship Type="http://schemas.openxmlformats.org/officeDocument/2006/relationships/notesMaster" Target="/ppt/notesMasters/notesMaster1.xml" Id="R7c85cb0d09c3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f8a6fefca4256" /><Relationship Type="http://schemas.openxmlformats.org/officeDocument/2006/relationships/notesMaster" Target="/ppt/notesMasters/notesMaster1.xml" Id="R3b7fa66e93f44d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8179a28ca54e01" /><Relationship Type="http://schemas.openxmlformats.org/officeDocument/2006/relationships/notesMaster" Target="/ppt/notesMasters/notesMaster1.xml" Id="R2787b3348f304e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de43a962064bd2" /><Relationship Type="http://schemas.openxmlformats.org/officeDocument/2006/relationships/notesMaster" Target="/ppt/notesMasters/notesMaster1.xml" Id="Re3201e6c61164d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4c9ef855c48e5" /><Relationship Type="http://schemas.openxmlformats.org/officeDocument/2006/relationships/notesMaster" Target="/ppt/notesMasters/notesMaster1.xml" Id="Reaf06543ac38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09bbc2198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c0316f2044122" /><Relationship Type="http://schemas.openxmlformats.org/officeDocument/2006/relationships/slideLayout" Target="/ppt/slideLayouts/slideLayout1.xml" Id="R263628035c584f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3628035c584f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700b41a745fd" /><Relationship Type="http://schemas.openxmlformats.org/officeDocument/2006/relationships/image" Target="/ppt/media/image.png" Id="R5a774ec21bcb454c" /><Relationship Type="http://schemas.openxmlformats.org/officeDocument/2006/relationships/image" Target="/ppt/media/image2.png" Id="Rec243777133f40a1" /><Relationship Type="http://schemas.openxmlformats.org/officeDocument/2006/relationships/notesSlide" Target="/ppt/notesSlides/notesSlide1.xml" Id="R7de657c169cb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38b5d841f4ecd" /><Relationship Type="http://schemas.openxmlformats.org/officeDocument/2006/relationships/notesSlide" Target="/ppt/notesSlides/notesSlide2.xml" Id="Refc8041a66f7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2cb2d58eb4fb2" /><Relationship Type="http://schemas.openxmlformats.org/officeDocument/2006/relationships/notesSlide" Target="/ppt/notesSlides/notesSlide3.xml" Id="R9395f5a8e70e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34227e391430f" /><Relationship Type="http://schemas.openxmlformats.org/officeDocument/2006/relationships/image" Target="/ppt/media/image3.png" Id="Rdf33f513dee3488e" /><Relationship Type="http://schemas.openxmlformats.org/officeDocument/2006/relationships/image" Target="/ppt/media/image4.png" Id="Ra6594a6a0db940d4" /><Relationship Type="http://schemas.openxmlformats.org/officeDocument/2006/relationships/image" Target="/ppt/media/image5.png" Id="Rda4fce6038764c83" /><Relationship Type="http://schemas.openxmlformats.org/officeDocument/2006/relationships/image" Target="/ppt/media/image6.png" Id="R1dea3538b41540bf" /><Relationship Type="http://schemas.openxmlformats.org/officeDocument/2006/relationships/image" Target="/ppt/media/image7.png" Id="R2e43d9c5a8ff4a0e" /><Relationship Type="http://schemas.openxmlformats.org/officeDocument/2006/relationships/notesSlide" Target="/ppt/notesSlides/notesSlide4.xml" Id="R60bf4e78987a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dfbc20e284149" /><Relationship Type="http://schemas.openxmlformats.org/officeDocument/2006/relationships/image" Target="/ppt/media/image8.png" Id="R455a297e03a741c3" /><Relationship Type="http://schemas.openxmlformats.org/officeDocument/2006/relationships/image" Target="/ppt/media/image9.png" Id="Rfbbc9a94d6fe4bde" /><Relationship Type="http://schemas.openxmlformats.org/officeDocument/2006/relationships/notesSlide" Target="/ppt/notesSlides/notesSlide5.xml" Id="Red971a2bde654d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74ec21bcb454c"/>
          <a:srcRect xmlns:a="http://schemas.openxmlformats.org/drawingml/2006/main" l="26432" t="0" r="264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ECC5D-5DDF-4E61-A0F4-CFE6538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80000"/>
            </a:srgbClr>
          </a:solidFill>
          <a:ln xmlns:a="http://schemas.openxmlformats.org/drawingml/2006/main" w="0">
            <a:solidFill>
              <a:srgbClr val="061326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0AC0-766B-49C3-B576-409C20A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8967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90980"/>
            </a:srgbClr>
          </a:solidFill>
          <a:ln xmlns:a="http://schemas.openxmlformats.org/drawingml/2006/main" w="0">
            <a:solidFill>
              <a:srgbClr val="020814">
                <a:alpha val="9098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43777133f40a1"/>
          <a:stretch xmlns:a="http://schemas.openxmlformats.org/drawingml/2006/main"/>
        </p:blipFill>
        <p:spPr>
          <a:xfrm xmlns:a="http://schemas.openxmlformats.org/drawingml/2006/main">
            <a:off x="712788" y="552450"/>
            <a:ext cx="2184400" cy="81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E89A7-1136-409B-B320-BEA6B71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2562"/>
            <a:ext cx="415956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Colour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Palette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A875E-36B1-451A-A496-2E4E645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4662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173CF-3C94-4A92-BB6C-8130F9DA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0412"/>
            <a:ext cx="385705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Premium Nigerian + European Engineering + Modern Architectural Lifestyle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D9E32-2C3C-4BC8-9C9E-205C65DF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202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9CCE5-F5DF-4A97-9786-E3ADF2D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2075864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AF870-1B1E-4117-91DF-62514D6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CORE PALETTE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8BAA8-C15E-41D8-B443-BE54F51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disciplined nine-colour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E8B08-CB7E-42E9-8F4B-ED219B6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88B3E-2384-4FEE-8AC1-2D5D3F3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9525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960F4-CE1F-4F23-B7BE-626AEA51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76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Midnight 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208ED-60AE-46FE-9964-0F85349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90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#061326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RGB 6 / 19 / 38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CMYK 84 / 50 / 0 / 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1DB9E-9BBE-45EB-9D8A-C495DEF4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24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Primary brand 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AA795-1F1B-4276-A961-6AF60E6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52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020814"/>
          </a:solidFill>
          <a:ln xmlns:a="http://schemas.openxmlformats.org/drawingml/2006/main" w="9525">
            <a:solidFill>
              <a:srgbClr val="0208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6ECEE-263D-46B0-BE64-19DFD39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76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Deep Navy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7F995-85FB-4D53-88FA-09A29E74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90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#020814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RGB 2 / 8 / 20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CMYK 90 / 60 / 0 / 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04516-6725-4A4C-B5A4-626DC96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24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Depth and footer panels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B8735-0560-483E-9DEF-8083224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D8D8D4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83447-B42B-4454-9452-BAE5B70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76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Platinum Silver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A610B-0955-41A7-B90C-DF5E140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90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#D8D8D4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RGB 216 / 216 / 212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CMYK 0 / 0 / 2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648A1-0ACA-4361-8856-630C45A3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24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Premium light neutral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35981-802F-4563-AEFD-7D50B711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C9C7BF"/>
          </a:solidFill>
          <a:ln xmlns:a="http://schemas.openxmlformats.org/drawingml/2006/main" w="9525">
            <a:solidFill>
              <a:srgbClr val="C9C7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9C883-488D-43DC-8DE1-23A2875B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Warm Silver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04589-4549-4AFD-AC31-FE27402D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674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#C9C7BF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RGB 201 / 199 / 191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CMYK 0 / 1 / 5 / 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4BE5E-EC98-49DA-ABA7-20105619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008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Supporting neutral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D5ABC-D791-4282-ABD5-8F76C703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9525">
            <a:solidFill>
              <a:srgbClr val="168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55839-534D-4CD4-8FFA-864E6535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530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Emerald Accent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9AF7A-18EA-491B-834E-EA36B611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8674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#168A55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RGB 22 / 138 / 85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CMYK 84 / 0 / 38 / 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6F42B-2ABF-4B03-B802-1067ABE3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4008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Calls to action and highlights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D4DED-E641-4159-B536-A8BA774C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9525">
            <a:solidFill>
              <a:srgbClr val="0F5F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76FFF-658B-4A5D-9E1B-AC439A56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5530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Deep Emerald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6E7E3-44D3-468F-B41D-89FB5230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8674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#0F5F3C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RGB 15 / 95 / 60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CMYK 84 / 0 / 37 / 63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4385F-AFA2-4901-A279-85B6193C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4008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Dark accent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88EAF-181E-49AC-AAE0-E38CDD28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05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D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FCFEF-41A7-4C52-BCF9-D4D2EC9C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029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Pure White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4A4A9-8BA1-4E91-8075-8B2A75A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343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#FFFFFF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RGB 255 / 255 / 255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CMYK 0 / 0 / 0 /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0F270-F158-47A8-9633-E7239D9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877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Space and clarity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370869-83EA-400D-9B33-F4EE661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905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F6303-4DBB-4526-B400-9AD537B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8029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Graphite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55B12-EA49-4846-BB84-85CEB56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8343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#111418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RGB 17 / 20 / 24</a:t>
            </a:r>
          </a:p>
          <a:p xmlns:a="http://schemas.openxmlformats.org/drawingml/2006/main">
            <a:pPr algn="l">
              <a:defRPr sz="623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CMYK 29 / 17 / 0 / 91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943D5-6CEF-4DD5-8926-19CA93D2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8877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Body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EE7E3-4DFE-4AA0-B787-15631311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905625"/>
            <a:ext cx="1924050" cy="22098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A8ADB3"/>
          </a:solidFill>
          <a:ln xmlns:a="http://schemas.openxmlformats.org/drawingml/2006/main" w="9525">
            <a:solidFill>
              <a:srgbClr val="A8ADB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0B16A-D902-4799-B9FD-72EEFE1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0295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Cool Grey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3E78E-E17E-42DA-B7AC-80172F2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343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#A8ADB3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RGB 168 / 173 / 179</a:t>
            </a:r>
          </a:p>
          <a:p xmlns:a="http://schemas.openxmlformats.org/drawingml/2006/main">
            <a:pPr algn="l">
              <a:defRPr sz="62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CMYK 6 / 3 / 0 / 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36FFEC-48A1-42AA-8E41-55E0ECF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877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Captions and dividers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88443C-1507-40F7-BA9F-94BF4C0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648909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6AD27-24A8-4CB0-B5E0-B0A16747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COLOUR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E5EF9-8F73-48F2-967C-9C35FF5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hierarchy, not a rainbow.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C82D2-77C4-4EC6-9EE5-EF99D356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1B55A-2121-4C55-B413-84A9447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60%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54708-F7A8-4902-9ED6-853A2DF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764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Midnight Navy + White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F303D-A3C8-4ED0-8C25-F1FA2B4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76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Primary surfaces, major contrast and editorial breathing room.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B8FB-F5B7-434C-8D42-FDEB5EF3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3840F-6BF7-4E3B-A211-1A6D75B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63517-7DC2-4C4C-956F-A04ED702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86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Silver + Graphite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3559B-4CD6-4F14-84E9-53F1357C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Neutral structure, body copy, dividers and refined material cues.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AF650-3CC7-4EA3-AB10-8FFFF07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7F9AA-6D60-4D3B-83E5-6CB3FE1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6428C-7CE3-40D9-B8EC-7BF4E981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959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Deep Navy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E3F74-AF46-4E9B-A4C0-00D9EFA4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0960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Depth, footers, technical panels and premium layering.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8F889-00E4-4A2D-B24C-00805A7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1990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E0A4F-B56A-45BB-B88E-C6E8F76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8A55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7FC36-3726-46D9-A308-214987A5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505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Emerald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B2076-4858-4584-B67D-78C1DFD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905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Calls to action, highlights, Nigerian reference and selected emphasis.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F6335-E5AD-4017-BDA2-9C03C47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B20AB-936B-4B04-AD38-7978D55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20200"/>
            <a:ext cx="638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68EF3-B4EC-4AB7-A8F1-7EBD58B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535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CMYK values are approximations. Approve a physical proof for production colour.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5F922-118F-4AB0-A38D-9A791156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1219573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43AEA-4A4C-430F-B330-0BA2645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LOGO COMBINATIONS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B2764-7AEC-40C9-9E5F-CD29AD9C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Use only approved contrast pairings.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81AF2-8960-4638-9423-6060CFB9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AB8A-75E2-4AC6-A434-E2272E15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9525">
            <a:solidFill>
              <a:srgbClr val="061326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3f513dee3488e"/>
          <a:stretch xmlns:a="http://schemas.openxmlformats.org/drawingml/2006/main"/>
        </p:blipFill>
        <p:spPr>
          <a:xfrm xmlns:a="http://schemas.openxmlformats.org/drawingml/2006/main">
            <a:off x="952500" y="2421731"/>
            <a:ext cx="2324100" cy="871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DA5F9-C919-4888-BBC5-927E530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White / platinum logo on Midnight Navy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2B9B0-F076-4608-949B-9BCCD3B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E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94a6a0db940d4"/>
          <a:stretch xmlns:a="http://schemas.openxmlformats.org/drawingml/2006/main"/>
        </p:blipFill>
        <p:spPr>
          <a:xfrm xmlns:a="http://schemas.openxmlformats.org/drawingml/2006/main">
            <a:off x="4286250" y="2421731"/>
            <a:ext cx="2324100" cy="87153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980F-B23F-485D-A61C-04EE4FA3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Navy logo on white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899A4-D348-49A8-98EF-89D9904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9525">
            <a:solidFill>
              <a:srgbClr val="168A5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fce6038764c83"/>
          <a:stretch xmlns:a="http://schemas.openxmlformats.org/drawingml/2006/main"/>
        </p:blipFill>
        <p:spPr>
          <a:xfrm xmlns:a="http://schemas.openxmlformats.org/drawingml/2006/main">
            <a:off x="952500" y="4871787"/>
            <a:ext cx="2324100" cy="73392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A04C4-39FE-4596-A136-A5A077D0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White logo on Emerald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6967F-6DD2-468F-B8A9-2F2EECA0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33875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F3F5F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a3538b41540bf"/>
          <a:stretch xmlns:a="http://schemas.openxmlformats.org/drawingml/2006/main"/>
        </p:blipFill>
        <p:spPr>
          <a:xfrm xmlns:a="http://schemas.openxmlformats.org/drawingml/2006/main">
            <a:off x="4286250" y="4871787"/>
            <a:ext cx="2324100" cy="733926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44FE5-FFC9-4829-A5BE-3B56BCA5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72175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One-colour navy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85925-BE92-4A42-B9D3-2322C2C1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15125"/>
            <a:ext cx="6381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3d9c5a8ff4a0e"/>
          <a:stretch xmlns:a="http://schemas.openxmlformats.org/drawingml/2006/main"/>
        </p:blipFill>
        <p:spPr>
          <a:xfrm xmlns:a="http://schemas.openxmlformats.org/drawingml/2006/main">
            <a:off x="1881188" y="7019925"/>
            <a:ext cx="3800475" cy="12001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2657B-3423-4FE0-9F31-C8505282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53425"/>
            <a:ext cx="603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One-colour black for restricted 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2AFC4-4B5D-4CFD-B266-05FED867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302125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DD2F4-99C1-4C02-BCCC-A56B0798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DO / DON'T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7984C-2983-497C-AB42-20A9033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Contrast and restraint signal quality.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3CD1B-33D9-47E8-BB43-26BF19A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C5051-865B-4F8C-969B-7D48F28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048000" cy="6191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71CB4-628F-441A-AD2A-B754E746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a297e03a741c3"/>
          <a:stretch xmlns:a="http://schemas.openxmlformats.org/drawingml/2006/main"/>
        </p:blipFill>
        <p:spPr>
          <a:xfrm xmlns:a="http://schemas.openxmlformats.org/drawingml/2006/main">
            <a:off x="946150" y="2857500"/>
            <a:ext cx="2336800" cy="87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F9CDE-1D9A-421F-99D1-CB4E6D6A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Use navy as the field colour and emerald as a precise accent.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1AE22-379E-4486-980C-D0B98192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D89FA-51CE-4FD3-9508-5EEB4A7F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Strong contrast</a:t>
            </a:r>
          </a:p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Generous whitespace</a:t>
            </a:r>
          </a:p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One clear focal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7837-6E8E-4CAB-819C-EFC36D3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3048000" cy="6191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EE7C0-9A59-422D-921D-8BFF74D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98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DON'T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c9a94d6fe4bde"/>
          <a:stretch xmlns:a="http://schemas.openxmlformats.org/drawingml/2006/main"/>
        </p:blipFill>
        <p:spPr>
          <a:xfrm xmlns:a="http://schemas.openxmlformats.org/drawingml/2006/main">
            <a:off x="4279900" y="2857500"/>
            <a:ext cx="2336800" cy="8763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5D875-C4F8-4F96-A7B6-33C834F3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Do not flood layouts with bright green or combine several competing accents.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ED039-792F-49A7-84BE-6ECB3EE5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429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A076F-F027-43F5-9842-090868EF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674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Over-saturated fields</a:t>
            </a:r>
          </a:p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Weak hierarchy</a:t>
            </a:r>
          </a:p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Reduced premium perception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4DC70-CD9F-4387-B13F-337650C2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8392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Accessibility target: WCAG AA for normal text and AAA where practical for critical safety information.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D5357-A595-41E6-A49D-B9D332F3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019137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2026-06-09T23:31:11.4200000Z</dcterms:created>
  <dcterms:modified xsi:type="dcterms:W3CDTF">2026-06-09T23:31:11.4200000Z</dcterms:modified>
</coreProperties>
</file>