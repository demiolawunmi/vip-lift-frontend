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a343c1d9a14a98" /><Relationship Type="http://schemas.openxmlformats.org/officeDocument/2006/relationships/extended-properties" Target="/docProps/app.xml" Id="R8660af9fc7764c28" /><Relationship Type="http://schemas.openxmlformats.org/officeDocument/2006/relationships/officeDocument" Target="/ppt/presentation.xml" Id="Rd00afacaf17144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e58b1f1a8040ce"/>
  </p:sldMasterIdLst>
  <p:notesMasterIdLst>
    <p:notesMasterId xmlns:r="http://schemas.openxmlformats.org/officeDocument/2006/relationships" r:id="Rf24f486e55a64c68"/>
  </p:notesMasterIdLst>
  <p:sldIdLst>
    <p:sldId xmlns:r="http://schemas.openxmlformats.org/officeDocument/2006/relationships" id="256" r:id="Rea696192c9954078"/>
    <p:sldId xmlns:r="http://schemas.openxmlformats.org/officeDocument/2006/relationships" id="257" r:id="Rda17dfdd6b724ac8"/>
    <p:sldId xmlns:r="http://schemas.openxmlformats.org/officeDocument/2006/relationships" id="258" r:id="R02c63c45b3c448b8"/>
    <p:sldId xmlns:r="http://schemas.openxmlformats.org/officeDocument/2006/relationships" id="259" r:id="R38b400835a8b442d"/>
    <p:sldId xmlns:r="http://schemas.openxmlformats.org/officeDocument/2006/relationships" id="260" r:id="R42a85fcdf61f4ac3"/>
    <p:sldId xmlns:r="http://schemas.openxmlformats.org/officeDocument/2006/relationships" id="261" r:id="R8f4c672d235b4467"/>
  </p:sldIdLst>
  <p:sldSz cx="7562850" cy="106965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4180557da643c4" /><Relationship Type="http://schemas.openxmlformats.org/officeDocument/2006/relationships/slideMaster" Target="/ppt/slideMasters/slideMaster1.xml" Id="R9ae58b1f1a8040ce" /><Relationship Type="http://schemas.openxmlformats.org/officeDocument/2006/relationships/notesMaster" Target="/ppt/notesMasters/notesMaster1.xml" Id="Rf24f486e55a64c68" /><Relationship Type="http://schemas.openxmlformats.org/officeDocument/2006/relationships/presProps" Target="/ppt/presProps.xml" Id="Rde3b1d9c4c5e404c" /><Relationship Type="http://schemas.openxmlformats.org/officeDocument/2006/relationships/viewProps" Target="/ppt/viewProps.xml" Id="R2ec40c0788d54c13" /><Relationship Type="http://schemas.openxmlformats.org/officeDocument/2006/relationships/tableStyles" Target="/ppt/tableStyles.xml" Id="R20be4aadee184bbf" /><Relationship Type="http://schemas.openxmlformats.org/officeDocument/2006/relationships/slide" Target="/ppt/slides/slide1.xml" Id="Rea696192c9954078" /><Relationship Type="http://schemas.openxmlformats.org/officeDocument/2006/relationships/slide" Target="/ppt/slides/slide2.xml" Id="Rda17dfdd6b724ac8" /><Relationship Type="http://schemas.openxmlformats.org/officeDocument/2006/relationships/slide" Target="/ppt/slides/slide3.xml" Id="R02c63c45b3c448b8" /><Relationship Type="http://schemas.openxmlformats.org/officeDocument/2006/relationships/slide" Target="/ppt/slides/slide4.xml" Id="R38b400835a8b442d" /><Relationship Type="http://schemas.openxmlformats.org/officeDocument/2006/relationships/slide" Target="/ppt/slides/slide5.xml" Id="R42a85fcdf61f4ac3" /><Relationship Type="http://schemas.openxmlformats.org/officeDocument/2006/relationships/slide" Target="/ppt/slides/slide6.xml" Id="R8f4c672d235b44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c4185f70b945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Input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Input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Input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Input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Input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Input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598b412b924fa0" /><Relationship Type="http://schemas.openxmlformats.org/officeDocument/2006/relationships/notesMaster" Target="/ppt/notesMasters/notesMaster1.xml" Id="R3391bb7b4de34c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dfe8e5e5904c6e" /><Relationship Type="http://schemas.openxmlformats.org/officeDocument/2006/relationships/notesMaster" Target="/ppt/notesMasters/notesMaster1.xml" Id="Rab6df379530d40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d080e5d08e4bf1" /><Relationship Type="http://schemas.openxmlformats.org/officeDocument/2006/relationships/notesMaster" Target="/ppt/notesMasters/notesMaster1.xml" Id="R4aca79d4bfa649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dafb303d5a4482" /><Relationship Type="http://schemas.openxmlformats.org/officeDocument/2006/relationships/notesMaster" Target="/ppt/notesMasters/notesMaster1.xml" Id="R4b154c318ab042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74da590a4b4cce" /><Relationship Type="http://schemas.openxmlformats.org/officeDocument/2006/relationships/notesMaster" Target="/ppt/notesMasters/notesMaster1.xml" Id="R62df236feeed4a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3f8f71546f49ad" /><Relationship Type="http://schemas.openxmlformats.org/officeDocument/2006/relationships/notesMaster" Target="/ppt/notesMasters/notesMaster1.xml" Id="Rd5feb4fd6a20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ae27107cd4e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20b6541cff4787" /><Relationship Type="http://schemas.openxmlformats.org/officeDocument/2006/relationships/slideLayout" Target="/ppt/slideLayouts/slideLayout1.xml" Id="Rc2affd68ea284b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affd68ea284b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877c239ed4a9f" /><Relationship Type="http://schemas.openxmlformats.org/officeDocument/2006/relationships/image" Target="/ppt/media/image.png" Id="R654f95f11a02496e" /><Relationship Type="http://schemas.openxmlformats.org/officeDocument/2006/relationships/image" Target="/ppt/media/image2.png" Id="Rc79d2e779ab9415a" /><Relationship Type="http://schemas.openxmlformats.org/officeDocument/2006/relationships/notesSlide" Target="/ppt/notesSlides/notesSlide1.xml" Id="R944b5383bf5d43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2091a50ca45a2" /><Relationship Type="http://schemas.openxmlformats.org/officeDocument/2006/relationships/image" Target="/ppt/media/image3.png" Id="Rffb45dbfb0504c09" /><Relationship Type="http://schemas.openxmlformats.org/officeDocument/2006/relationships/notesSlide" Target="/ppt/notesSlides/notesSlide2.xml" Id="R53820bb1417b4d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f1b9203054d36" /><Relationship Type="http://schemas.openxmlformats.org/officeDocument/2006/relationships/notesSlide" Target="/ppt/notesSlides/notesSlide3.xml" Id="R8b980f3c99dc4e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c533bb9444f0b" /><Relationship Type="http://schemas.openxmlformats.org/officeDocument/2006/relationships/notesSlide" Target="/ppt/notesSlides/notesSlide4.xml" Id="R4b926c1260a44d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146576b374b54" /><Relationship Type="http://schemas.openxmlformats.org/officeDocument/2006/relationships/notesSlide" Target="/ppt/notesSlides/notesSlide5.xml" Id="R66fabd538d1241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f4857633849c5" /><Relationship Type="http://schemas.openxmlformats.org/officeDocument/2006/relationships/notesSlide" Target="/ppt/notesSlides/notesSlide6.xml" Id="R76df0bea89914d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f95f11a02496e"/>
          <a:srcRect xmlns:a="http://schemas.openxmlformats.org/drawingml/2006/main" l="0" t="2855" r="0" b="28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EAAC3-9EC8-457E-BB36-5A0DBB86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26">
              <a:alpha val="80000"/>
            </a:srgbClr>
          </a:solidFill>
          <a:ln xmlns:a="http://schemas.openxmlformats.org/drawingml/2006/main" w="0">
            <a:solidFill>
              <a:srgbClr val="061326">
                <a:alpha val="8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BEEFB-2FC0-460B-9D79-60584791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88967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4">
              <a:alpha val="90980"/>
            </a:srgbClr>
          </a:solidFill>
          <a:ln xmlns:a="http://schemas.openxmlformats.org/drawingml/2006/main" w="0">
            <a:solidFill>
              <a:srgbClr val="020814">
                <a:alpha val="9098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d2e779ab9415a"/>
          <a:stretch xmlns:a="http://schemas.openxmlformats.org/drawingml/2006/main"/>
        </p:blipFill>
        <p:spPr>
          <a:xfrm xmlns:a="http://schemas.openxmlformats.org/drawingml/2006/main">
            <a:off x="712788" y="552450"/>
            <a:ext cx="2184400" cy="819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2363F-27B2-4DC6-B789-C43E6C8F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2562"/>
            <a:ext cx="415956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Typography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4E1A3-5005-4A6D-B2FB-36244140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4662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75B7C-D5F5-4DFF-BC74-068750E4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0412"/>
            <a:ext cx="3857054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Elegant, architectural, readable.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3FEA5-2903-4073-8A7A-407A088F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202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VALUE. INNOVATION. PRESTIGE.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62D11-2CA9-4D1F-AB5E-B7A310B1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949563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7917CD-89B6-4AE9-B4F1-D446ED51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TYPEFACE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42B39-A6F6-4315-86D7-9954BDB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Three complementary voices.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8D287-413C-4AD4-8EEF-737016C5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9C9DE-4A10-45C2-B940-BF91D483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638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Cormorant Garamond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A2988-E9ED-4407-8B03-49EDCA80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DISPLAY SERIF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83E85-C9F4-4F02-BC6E-E69A1FF6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908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Premium headings, editorial covers and expressive quotations.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4A2DC-F1AF-4683-984F-2327E68A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C"/>
          </a:solidFill>
          <a:ln xmlns:a="http://schemas.openxmlformats.org/drawingml/2006/main" w="0">
            <a:solidFill>
              <a:srgbClr val="E9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E21BC-999D-47B5-B737-EE2C5CC2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638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Inter"/>
                <a:ea typeface="Inter"/>
                <a:cs typeface="Inter"/>
              </a:defRPr>
            </a:pPr>
            <a:r>
              <a:t>Inter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72392-FFBF-45E3-A5DD-B34E4436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PRIMARY SANS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D4A6B-DEBE-44CE-8D6E-D5493E9D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529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Body copy, specifications, proposals, quotations and interface 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B5EF5-8C94-4A2A-A4E2-1973688F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C"/>
          </a:solidFill>
          <a:ln xmlns:a="http://schemas.openxmlformats.org/drawingml/2006/main" w="0">
            <a:solidFill>
              <a:srgbClr val="E9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73529-6CA6-44E4-86A7-764089A5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638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MONTSERRAT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2F387-A25F-44B9-B6A9-A349EC7B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GEOMETRIC ACCENT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8EBC2-DDB8-4531-96FF-6B3C7289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Short labels, navigation, technical metadata and uppercase details.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52557-12DD-40D8-BEC6-A8F7EA0F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638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45dbfb0504c09"/>
          <a:stretch xmlns:a="http://schemas.openxmlformats.org/drawingml/2006/main"/>
        </p:blipFill>
        <p:spPr>
          <a:xfrm xmlns:a="http://schemas.openxmlformats.org/drawingml/2006/main">
            <a:off x="915988" y="7124700"/>
            <a:ext cx="2473325" cy="7810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0D5DD-BCE7-4373-90DA-7EFAA9FB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70294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CUSTOM LOGOTYPE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C6DB5-CBA7-49DC-9CFE-7BA51F63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7410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Always use supplied artwork.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Never recreate the wordmark.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2117A-D4DE-4295-AEFE-B3E8B77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1028372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0B438A-E090-4C65-9B79-5E25D755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HIERARCHY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D10DD-E712-4C77-9445-F4C52450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Exact roles create consistent rhythm.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730EC-2930-4FF4-9CE0-73648EFA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5AE3D-822C-4E5F-800F-F4EA8DF8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38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785E9-676E-40A3-B304-42BCA4D8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4B722-1CD4-484E-8541-0BDB821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52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Font / weight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9CE5F-D87A-44D6-BEBB-E23ED4A0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61A06-9E10-4680-95CF-A328755F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Tracking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3AEFE-D142-4DFC-A3F8-28CE5AFE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Leading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A3E8C-1201-4247-906C-2A3A6B0B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6381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EEEC"/>
          </a:solidFill>
          <a:ln xmlns:a="http://schemas.openxmlformats.org/drawingml/2006/main" w="0">
            <a:solidFill>
              <a:srgbClr val="E9E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BD782-C6B6-495B-8187-714A3A21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H1 / Cover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81578-DFC2-49AE-AB9E-D0753135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384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Cormorant Garamond Semibold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3331D-744A-497B-BAC9-12AB5FE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42–56 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8482F-3F9A-4906-A396-8C0E4901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384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D2A26-1FD1-4627-B3AD-EDFBFEA1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384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0.95–1.05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A01AD-AA0A-481C-BBFE-E1E38096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6381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49040-8B62-4E2D-9332-436BEF59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H2 / Section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62BB0-91CE-4212-9A8A-DFC3259B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47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Cormorant Garamond Semibold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E54AB-CAA7-4F3B-A4B3-79DD71AF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24–34 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C1DD2-5F39-448C-A2F1-48B25563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147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5CAD7-E934-4B1D-8076-133C0106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1.05–1.15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D5F71-A19F-4E14-9C47-DF09CB30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6381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EEEC"/>
          </a:solidFill>
          <a:ln xmlns:a="http://schemas.openxmlformats.org/drawingml/2006/main" w="0">
            <a:solidFill>
              <a:srgbClr val="E9EE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90869-7C9D-4800-8895-F1E5A62E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H3 / Subheading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FA4C2-A9D6-4BFD-B7F6-7BB2A9BC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91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Inter Semibold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FD883-C90D-499D-919D-1E673085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910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14–18 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6BE44-A069-433D-8588-D2ACAFC8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910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5F5AF5-173E-4807-883C-35AD2170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1.15–1.25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80F5AF-1411-43F6-91C8-C313A8D8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6381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412A23-DDC5-4D86-8D3B-126C373D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Body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B3D1C-5DD4-4A2E-A5A3-AFB13FD2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673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Inter Regular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7091C-8205-46E9-A615-6B06EF9E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673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9.5–11 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A9D1BE-DDC8-48F4-81AC-4ABDABE5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673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81872-C7F2-4853-8D17-A634BCDB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673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1.35–1.5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45BE54-B3B3-4030-ABD6-EED06643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6381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EEEC"/>
          </a:solidFill>
          <a:ln xmlns:a="http://schemas.openxmlformats.org/drawingml/2006/main" w="0">
            <a:solidFill>
              <a:srgbClr val="E9EE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89AAC8-1E30-4051-A401-78063407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Caption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C21B43-E1DD-43C9-9450-C16EA741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436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Inter Regular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CC978A-83EE-4F10-9481-9CD7CC6E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436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8–9 pt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828EAD-B938-4120-8EE6-47F0A180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3436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C0B154-BE82-4E81-ABAA-A1E60189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3436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1.25–1.4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839822-294A-477C-A755-03D14419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29450"/>
            <a:ext cx="6381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7A5780-F5BC-4731-89FA-472649F5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19950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Label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C3DE78-5FC4-46B7-8D2B-838E30DA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2199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Montserrat Semibold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B1FF02-3211-4CB7-93BD-10CFB173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2199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8–11 pt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B04131-9B6E-466D-A0C3-0AD84BFD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72199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4–8%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FDC440-8346-42B5-9630-24F83DD1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72199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1.1–1.2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DB2FC6-2066-4261-9186-91C8D549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05750"/>
            <a:ext cx="6381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EEEC"/>
          </a:solidFill>
          <a:ln xmlns:a="http://schemas.openxmlformats.org/drawingml/2006/main" w="0">
            <a:solidFill>
              <a:srgbClr val="E9EE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9D4644-B98E-4C80-BFD2-29D3B2C4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96250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Logo wordmark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3B70D1-007F-4512-AB3D-E92398FA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80962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Supplied artwork only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995552-9BA0-43EF-B435-DEE7D02B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962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N/A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C4C0D1-0185-4908-A276-C243FBF7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80962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N/A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C03CDC-FD29-4999-BDEE-F837F322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80962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N/A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C5E6DD-6A4A-4F3A-AA6D-606655A7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10233488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DFA68B-C47B-4901-8A50-EE4E9897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EXAMPLE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45EB1-15FB-4854-9549-9FCE253B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The system in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2FB97-F755-4E82-BD1B-466C8E72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C42FD-CA2F-4A44-B508-BBDF4E3D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381750" cy="7048500"/>
          </a:xfrm>
          <a:prstGeom xmlns:a="http://schemas.openxmlformats.org/drawingml/2006/main" prst="roundRect">
            <a:avLst>
              <a:gd name="adj" fmla="val 209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48E00-3996-4D5A-B889-6913CA1B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RESIDENTIAL MOBILITY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BA7E0-D55B-42F4-9C74-423430BB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857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 lift that belongs</a:t>
            </a:r>
          </a:p>
          <a:p xmlns:a="http://schemas.openxmlformats.org/drawingml/2006/main">
            <a:pPr algn="l">
              <a:defRPr sz="2925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in the architecture.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8EDBD-A7E0-497D-8E53-6C192248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5F3C"/>
                </a:solidFill>
                <a:latin typeface="Inter"/>
                <a:ea typeface="Inter"/>
                <a:cs typeface="Inter"/>
              </a:defRPr>
            </a:pPr>
            <a:r>
              <a:t>Designed around the building. Supported for the life of the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F2C36-9E96-4EFB-BB86-B8EBECE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533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VIP Lift Nigeria helps homeowners, architects and developers select lift systems that suit the site, the users and the long-term maintenance plan. Our role continues from early discussion through supply, installation, servicing and repair.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07AEB-E167-4CE0-B761-20586312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48450"/>
            <a:ext cx="53340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4ADC7-88F6-44C5-B219-39E7A5BA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151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REQUEST A SITE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DE80E-7BB6-4561-A926-DC1A98DA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334250"/>
            <a:ext cx="4619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Clear advice for homes, offices and public buildings.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783CF-8DCF-46D9-9EF7-290FC801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486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 i="1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Caption: Modern platform-lift integration with clear sightlines and restrained materials.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24C37-E59C-4305-85FC-EAEACF8F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1940964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2F5997-30FB-4B32-A797-D0A01ED5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USAGE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C3423-9696-4A43-99BB-AF65955F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Consistency is mostly restraint.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9DB59-0532-4B89-815D-E52C8E81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BD60B-0BF3-475B-BEFE-007AF41D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193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95B55-E5F8-4AD4-9D05-B8DABCE4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Use sentence case for most communication; reserve uppercase for short labels.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2EF3E-475E-425D-B83D-BE9C41EC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FD89F-B3DE-4E6D-AE4D-BD9D009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Keep body copy left-aligned and avoid over-letterspacing paragraphs.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46704-4286-4414-A2C9-BC181840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242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3E976-6691-48F8-8DE0-E7E90BFF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Use generous line height and short measures for technical readability.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D5EEC-F755-49CE-8F88-37EF0CC9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05109-CC7D-47BE-8B71-D90EEF2C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Limit one page or composition to three type families and a small number of weights.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E693E-F291-4DBF-A29A-610A52B0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50D85-C4F2-4232-8653-F5B79DED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Use Cormorant Garamond for headings, not dense specifications or tables.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47E65-6DCF-4860-B0CF-28FFA715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815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27809-F2FB-45BB-962B-F0A6E3EA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Use supplied logo artwork; the custom wordmark is not a typeface.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BA04D-34A5-4E34-AF87-67271720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638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852E6-C1ED-4B01-AAD5-549DE376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246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Fallback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573D3-7956-4742-8A98-3813F138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961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Baskerville → display</a:t>
            </a:r>
          </a:p>
          <a:p xmlns:a="http://schemas.openxmlformats.org/drawingml/2006/main">
            <a:pPr algn="l">
              <a:defRPr sz="105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Avenir Next → body</a:t>
            </a:r>
          </a:p>
          <a:p xmlns:a="http://schemas.openxmlformats.org/drawingml/2006/main">
            <a:pPr algn="l">
              <a:defRPr sz="105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Arial → compatibility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067FE-07ED-48AC-8569-29099293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7225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Fallbacks are for environments where brand fonts cannot be installed. They do not replace the preferred system in master artwork.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086EA-F60F-4272-A1F6-96262F36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847948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16DD0F-7DF7-4723-AD77-4E37127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DO / DON'T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984A2-C07E-43C9-A16F-B584A458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601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Hierarchy should be visible before it is read.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D6CB2-6E42-4B15-874D-B64D2FDE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21B18-9DA3-4A6D-B058-A0911362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3048000" cy="6477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68BAB-6777-4B5F-A62F-301F2475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84DDB-BD8A-46EA-9E4D-7F6C533E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 clear premium</a:t>
            </a:r>
          </a:p>
          <a:p xmlns:a="http://schemas.openxmlformats.org/drawingml/2006/main">
            <a:pPr algn="l">
              <a:defRPr sz="2325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heading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9A8F5-E68D-4144-BA87-9E5BCABD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F3C"/>
                </a:solidFill>
                <a:latin typeface="Inter"/>
                <a:ea typeface="Inter"/>
                <a:cs typeface="Inter"/>
              </a:defRPr>
            </a:pPr>
            <a:r>
              <a:t>A concise subheading creates a bridge into readable body copy.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FE499-B87A-4C4A-B098-8BC4E183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Body copy uses comfortable leading, a practical measure and visible separation from the next content block. Labels remain short.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7C343-A1E4-4A98-B253-F2FF56C8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62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SMALL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7CD27-B20A-46F9-8669-4A425754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52625"/>
            <a:ext cx="3048000" cy="6477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7E9E8"/>
          </a:solidFill>
          <a:ln xmlns:a="http://schemas.openxmlformats.org/drawingml/2006/main" w="0">
            <a:solidFill>
              <a:srgbClr val="E7E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F10EE-6DE6-49EC-834B-52199287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383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63D40"/>
                </a:solidFill>
                <a:latin typeface="Montserrat"/>
                <a:ea typeface="Montserrat"/>
                <a:cs typeface="Montserrat"/>
              </a:defRPr>
            </a:pPr>
            <a:r>
              <a:t>DON'T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C023F-0AC3-4128-B3B6-E45F9F11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38450"/>
            <a:ext cx="238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Everything the same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6C2CB-E0DC-42E0-A34D-570B69AC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623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ALL CAPS SUBHEADING WITH TOO MUCH TRACKING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4377B-05D1-4F23-AC55-71235730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Cramped body copy with limited line spacing makes premium communication harder to read and reduces trust. Decorative styling should never replace hierarchy.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3F58D-EEC0-44A9-A20A-046D352C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57225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63D4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Avoid too many weights, decorative effects and inconsistent alignment.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DF950-0399-4D18-B8DA-73EA103F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715647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2026-06-09T23:31:11.5800000Z</dcterms:created>
  <dcterms:modified xsi:type="dcterms:W3CDTF">2026-06-09T23:31:11.5800000Z</dcterms:modified>
</coreProperties>
</file>